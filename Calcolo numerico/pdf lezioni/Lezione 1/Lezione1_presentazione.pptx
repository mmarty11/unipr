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sldIdLst>
    <p:sldId id="256" r:id="rId2"/>
    <p:sldId id="289" r:id="rId3"/>
    <p:sldId id="290" r:id="rId4"/>
    <p:sldId id="261" r:id="rId5"/>
    <p:sldId id="262" r:id="rId6"/>
    <p:sldId id="257" r:id="rId7"/>
    <p:sldId id="258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  <p:sldId id="276" r:id="rId17"/>
    <p:sldId id="278" r:id="rId18"/>
    <p:sldId id="277" r:id="rId19"/>
    <p:sldId id="272" r:id="rId20"/>
    <p:sldId id="279" r:id="rId21"/>
    <p:sldId id="271" r:id="rId22"/>
    <p:sldId id="275" r:id="rId23"/>
    <p:sldId id="273" r:id="rId24"/>
    <p:sldId id="280" r:id="rId25"/>
  </p:sldIdLst>
  <p:sldSz cx="9144000" cy="6858000" type="screen4x3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 autoAdjust="0"/>
    <p:restoredTop sz="94669" autoAdjust="0"/>
  </p:normalViewPr>
  <p:slideViewPr>
    <p:cSldViewPr>
      <p:cViewPr varScale="1">
        <p:scale>
          <a:sx n="62" d="100"/>
          <a:sy n="62" d="100"/>
        </p:scale>
        <p:origin x="-1328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Connettore 1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olo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25" name="Sottotitolo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it-IT" smtClean="0"/>
              <a:t>Fare clic per modificare lo stile del sottotitolo dello schema</a:t>
            </a:r>
            <a:endParaRPr kumimoji="0" lang="en-US"/>
          </a:p>
        </p:txBody>
      </p:sp>
      <p:sp>
        <p:nvSpPr>
          <p:cNvPr id="31" name="Segnaposto data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18" name="Segnaposto piè di pagina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29" name="Segnaposto numero diapositiva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ttangolo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immagine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it-IT" smtClean="0"/>
              <a:t>Fare clic sull'icona per inserire un'immagine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Segnaposto titolo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1" name="Segnaposto testo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  <a:p>
            <a:pPr lvl="1" eaLnBrk="1" latinLnBrk="0" hangingPunct="1"/>
            <a:r>
              <a:rPr kumimoji="0" lang="it-IT" smtClean="0"/>
              <a:t>Secondo livello</a:t>
            </a:r>
          </a:p>
          <a:p>
            <a:pPr lvl="2" eaLnBrk="1" latinLnBrk="0" hangingPunct="1"/>
            <a:r>
              <a:rPr kumimoji="0" lang="it-IT" smtClean="0"/>
              <a:t>Terzo livello</a:t>
            </a:r>
          </a:p>
          <a:p>
            <a:pPr lvl="3" eaLnBrk="1" latinLnBrk="0" hangingPunct="1"/>
            <a:r>
              <a:rPr kumimoji="0" lang="it-IT" smtClean="0"/>
              <a:t>Quarto livello</a:t>
            </a:r>
          </a:p>
          <a:p>
            <a:pPr lvl="4" eaLnBrk="1" latinLnBrk="0" hangingPunct="1"/>
            <a:r>
              <a:rPr kumimoji="0" lang="it-IT" smtClean="0"/>
              <a:t>Quinto livello</a:t>
            </a:r>
            <a:endParaRPr kumimoji="0" lang="en-US"/>
          </a:p>
        </p:txBody>
      </p:sp>
      <p:sp>
        <p:nvSpPr>
          <p:cNvPr id="27" name="Segnaposto data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7B09F87-B31C-4AA0-B24B-ABF1C190ED9C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16" name="Segnaposto numero diapositiva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F0161D3-C9B6-402C-82B0-B8FFAA8BCD32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youtube.com/watch?v=rIkJGRIcs3o&amp;list=TLPQMjYwMjIwMjCORnoSyEI8-w&amp;index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s://www.youtube.com/watch?v=FgPpEjqsIZY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peed.mox.polimi.it/wp-content/uploads/2015/11/ChristchurchPhotoRealistic.mp4?_=2" TargetMode="External"/><Relationship Id="rId2" Type="http://schemas.openxmlformats.org/officeDocument/2006/relationships/hyperlink" Target="https://www.youtube.com/watch?v=gxAaO2rsd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C7nvAv4ZsEU" TargetMode="External"/><Relationship Id="rId4" Type="http://schemas.openxmlformats.org/officeDocument/2006/relationships/hyperlink" Target="https://www.youtube.com/watch?v=FzcQi-pr-hY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915816" y="4941168"/>
            <a:ext cx="6044208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smtClean="0">
                <a:solidFill>
                  <a:srgbClr val="FFFF00"/>
                </a:solidFill>
              </a:rPr>
              <a:t>Calcolo numerico</a:t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/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/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>
                <a:solidFill>
                  <a:srgbClr val="FFFF00"/>
                </a:solidFill>
              </a:rPr>
              <a:t/>
            </a:r>
            <a:br>
              <a:rPr lang="it-IT" dirty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/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>
                <a:solidFill>
                  <a:srgbClr val="FFFF00"/>
                </a:solidFill>
              </a:rPr>
              <a:t/>
            </a:r>
            <a:br>
              <a:rPr lang="it-IT" dirty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/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>corso di laurea triennale </a:t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>in informatica</a:t>
            </a:r>
            <a:endParaRPr lang="it-IT" sz="3600" i="1" dirty="0">
              <a:solidFill>
                <a:srgbClr val="FFFF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139952" y="1484784"/>
            <a:ext cx="3816424" cy="432048"/>
          </a:xfrm>
        </p:spPr>
        <p:txBody>
          <a:bodyPr>
            <a:normAutofit/>
          </a:bodyPr>
          <a:lstStyle/>
          <a:p>
            <a:r>
              <a:rPr lang="it-IT" dirty="0" smtClean="0"/>
              <a:t>Prof.ssa Chiara GUARDASONI</a:t>
            </a:r>
          </a:p>
        </p:txBody>
      </p:sp>
      <p:grpSp>
        <p:nvGrpSpPr>
          <p:cNvPr id="6" name="Gruppo 5"/>
          <p:cNvGrpSpPr/>
          <p:nvPr/>
        </p:nvGrpSpPr>
        <p:grpSpPr>
          <a:xfrm>
            <a:off x="5076056" y="4063712"/>
            <a:ext cx="1800200" cy="373400"/>
            <a:chOff x="1691679" y="3356992"/>
            <a:chExt cx="3456385" cy="373400"/>
          </a:xfrm>
        </p:grpSpPr>
        <p:sp>
          <p:nvSpPr>
            <p:cNvPr id="7" name="Rettangolo 6"/>
            <p:cNvSpPr/>
            <p:nvPr/>
          </p:nvSpPr>
          <p:spPr>
            <a:xfrm>
              <a:off x="1691679" y="3361060"/>
              <a:ext cx="3456385" cy="36933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Rettangolo 7"/>
            <p:cNvSpPr/>
            <p:nvPr/>
          </p:nvSpPr>
          <p:spPr>
            <a:xfrm>
              <a:off x="1691680" y="3356992"/>
              <a:ext cx="34563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dirty="0" smtClean="0">
                  <a:solidFill>
                    <a:srgbClr val="FF0000"/>
                  </a:solidFill>
                </a:rPr>
                <a:t>A.A. 2020/2021</a:t>
              </a:r>
              <a:endParaRPr lang="it-IT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81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6004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ORARIO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79512" y="634305"/>
            <a:ext cx="3773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6 CREDITI	</a:t>
            </a:r>
            <a:r>
              <a:rPr lang="it-IT" i="1" u="sng" dirty="0" smtClean="0"/>
              <a:t>56 ore di lezione</a:t>
            </a:r>
          </a:p>
          <a:p>
            <a:endParaRPr lang="it-IT" i="1" dirty="0" smtClean="0"/>
          </a:p>
          <a:p>
            <a:r>
              <a:rPr lang="it-IT" i="1" dirty="0" smtClean="0"/>
              <a:t>Lunedì </a:t>
            </a:r>
            <a:r>
              <a:rPr lang="it-IT" b="1" i="1" dirty="0" smtClean="0"/>
              <a:t>10:30-13:30</a:t>
            </a:r>
            <a:endParaRPr lang="it-IT" i="1" dirty="0" smtClean="0">
              <a:solidFill>
                <a:srgbClr val="FF0000"/>
              </a:solidFill>
            </a:endParaRPr>
          </a:p>
          <a:p>
            <a:r>
              <a:rPr lang="it-IT" i="1" dirty="0" smtClean="0"/>
              <a:t>Giove</a:t>
            </a:r>
            <a:r>
              <a:rPr lang="it-IT" i="1" dirty="0" smtClean="0"/>
              <a:t>dì </a:t>
            </a:r>
            <a:r>
              <a:rPr lang="it-IT" b="1" i="1" dirty="0" smtClean="0"/>
              <a:t>11:30-13:30</a:t>
            </a:r>
            <a:endParaRPr lang="it-IT" b="1" i="1" dirty="0" smtClean="0">
              <a:solidFill>
                <a:srgbClr val="FF0000"/>
              </a:solidFill>
            </a:endParaRPr>
          </a:p>
        </p:txBody>
      </p:sp>
      <p:cxnSp>
        <p:nvCxnSpPr>
          <p:cNvPr id="5" name="Connettore 2 4"/>
          <p:cNvCxnSpPr/>
          <p:nvPr/>
        </p:nvCxnSpPr>
        <p:spPr>
          <a:xfrm>
            <a:off x="1403648" y="836712"/>
            <a:ext cx="5760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tangolo 11"/>
          <p:cNvSpPr/>
          <p:nvPr/>
        </p:nvSpPr>
        <p:spPr>
          <a:xfrm>
            <a:off x="179512" y="2564904"/>
            <a:ext cx="768992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/>
              <a:t>Chiara GUARDASONI</a:t>
            </a:r>
          </a:p>
          <a:p>
            <a:r>
              <a:rPr lang="it-IT" dirty="0" smtClean="0"/>
              <a:t>chiara.guardasoni@unipr.it</a:t>
            </a:r>
          </a:p>
          <a:p>
            <a:endParaRPr lang="it-IT" i="1" dirty="0"/>
          </a:p>
          <a:p>
            <a:r>
              <a:rPr lang="it-IT" i="1" dirty="0" smtClean="0"/>
              <a:t>Orario di ricevimento: concordato via mail (mercoledì ore 11.00-13.00) </a:t>
            </a:r>
          </a:p>
          <a:p>
            <a:endParaRPr lang="it-IT" i="1" dirty="0" smtClean="0"/>
          </a:p>
          <a:p>
            <a:r>
              <a:rPr lang="it-IT" b="1" i="1" dirty="0" smtClean="0"/>
              <a:t>Tutore</a:t>
            </a:r>
            <a:endParaRPr lang="it-IT" dirty="0" smtClean="0"/>
          </a:p>
        </p:txBody>
      </p:sp>
      <p:sp>
        <p:nvSpPr>
          <p:cNvPr id="14" name="Titolo 1"/>
          <p:cNvSpPr txBox="1">
            <a:spLocks/>
          </p:cNvSpPr>
          <p:nvPr/>
        </p:nvSpPr>
        <p:spPr>
          <a:xfrm>
            <a:off x="179512" y="1916832"/>
            <a:ext cx="7848872" cy="360040"/>
          </a:xfrm>
          <a:prstGeom prst="rect">
            <a:avLst/>
          </a:prstGeom>
          <a:solidFill>
            <a:srgbClr val="FFFF00"/>
          </a:solidFill>
        </p:spPr>
        <p:txBody>
          <a:bodyPr vert="horz" lIns="45720" tIns="0" rIns="45720" bIns="0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it-IT" sz="2400" b="0" cap="none" dirty="0" smtClean="0"/>
              <a:t>CONTATTI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181556" y="5301208"/>
            <a:ext cx="76878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dirty="0"/>
              <a:t>"Introduzione al Calcolo Scientifico: Esercizi e problemi risolti con MATLAB" di A. Quarteroni, F. </a:t>
            </a:r>
            <a:r>
              <a:rPr lang="it-IT" dirty="0" err="1"/>
              <a:t>Saleri</a:t>
            </a:r>
            <a:r>
              <a:rPr lang="it-IT" dirty="0"/>
              <a:t>.</a:t>
            </a:r>
          </a:p>
          <a:p>
            <a:pPr fontAlgn="base"/>
            <a:r>
              <a:rPr lang="it-IT"/>
              <a:t/>
            </a:r>
            <a:br>
              <a:rPr lang="it-IT"/>
            </a:br>
            <a:r>
              <a:rPr lang="it-IT" smtClean="0"/>
              <a:t>"</a:t>
            </a:r>
            <a:r>
              <a:rPr lang="it-IT" dirty="0"/>
              <a:t>Matematica Numerica" di A. Quarteroni, R. Sacco, F. </a:t>
            </a:r>
            <a:r>
              <a:rPr lang="it-IT" dirty="0" err="1"/>
              <a:t>Saleri</a:t>
            </a:r>
            <a:r>
              <a:rPr lang="it-IT" dirty="0"/>
              <a:t>, P. Gervasio</a:t>
            </a:r>
          </a:p>
        </p:txBody>
      </p:sp>
      <p:sp>
        <p:nvSpPr>
          <p:cNvPr id="8" name="Titolo 1"/>
          <p:cNvSpPr txBox="1">
            <a:spLocks/>
          </p:cNvSpPr>
          <p:nvPr/>
        </p:nvSpPr>
        <p:spPr>
          <a:xfrm>
            <a:off x="179512" y="4725144"/>
            <a:ext cx="7848872" cy="360040"/>
          </a:xfrm>
          <a:prstGeom prst="rect">
            <a:avLst/>
          </a:prstGeom>
          <a:solidFill>
            <a:srgbClr val="FFFF00"/>
          </a:solidFill>
        </p:spPr>
        <p:txBody>
          <a:bodyPr vert="horz" lIns="45720" tIns="0" rIns="45720" bIns="0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it-IT" sz="2400" b="0" cap="none" dirty="0" smtClean="0"/>
              <a:t>BIBLIOGRAFIA</a:t>
            </a:r>
            <a:endParaRPr lang="it-IT" sz="2400" cap="non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6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6004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PROGRAMMA del CORSO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94897" y="2348880"/>
            <a:ext cx="78309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3679825" algn="l"/>
              </a:tabLst>
            </a:pPr>
            <a:r>
              <a:rPr lang="it-IT" dirty="0"/>
              <a:t>Introduzione a MATLAB</a:t>
            </a:r>
            <a:r>
              <a:rPr lang="it-IT" dirty="0" smtClean="0"/>
              <a:t>.	Ultima release di ateneo scaricabile </a:t>
            </a:r>
          </a:p>
          <a:p>
            <a:endParaRPr lang="it-IT" dirty="0"/>
          </a:p>
          <a:p>
            <a:r>
              <a:rPr lang="it-IT" dirty="0"/>
              <a:t>Analisi degli errori. </a:t>
            </a:r>
            <a:endParaRPr lang="it-IT" dirty="0" smtClean="0"/>
          </a:p>
          <a:p>
            <a:endParaRPr lang="it-IT" dirty="0"/>
          </a:p>
          <a:p>
            <a:r>
              <a:rPr lang="it-IT" dirty="0" smtClean="0"/>
              <a:t>Approssimazione </a:t>
            </a:r>
            <a:r>
              <a:rPr lang="it-IT" dirty="0"/>
              <a:t>di dati e di funzioni.</a:t>
            </a:r>
          </a:p>
          <a:p>
            <a:endParaRPr lang="it-IT" dirty="0" smtClean="0"/>
          </a:p>
          <a:p>
            <a:r>
              <a:rPr lang="it-IT" dirty="0" smtClean="0"/>
              <a:t>Integrazione </a:t>
            </a:r>
            <a:r>
              <a:rPr lang="it-IT" dirty="0"/>
              <a:t>Numerica con formule di Newton-</a:t>
            </a:r>
            <a:r>
              <a:rPr lang="it-IT" dirty="0" err="1"/>
              <a:t>Cotes</a:t>
            </a:r>
            <a:r>
              <a:rPr lang="it-IT" dirty="0"/>
              <a:t>.</a:t>
            </a:r>
          </a:p>
          <a:p>
            <a:endParaRPr lang="it-IT" dirty="0" smtClean="0"/>
          </a:p>
          <a:p>
            <a:r>
              <a:rPr lang="it-IT" dirty="0" smtClean="0"/>
              <a:t>Risoluzione </a:t>
            </a:r>
            <a:r>
              <a:rPr lang="it-IT" dirty="0"/>
              <a:t>di sistemi lineari: metodi diretti, fattorizzazioni, metodi</a:t>
            </a:r>
          </a:p>
          <a:p>
            <a:r>
              <a:rPr lang="it-IT" dirty="0"/>
              <a:t>iterativi</a:t>
            </a:r>
            <a:r>
              <a:rPr lang="it-IT" dirty="0" smtClean="0"/>
              <a:t>.</a:t>
            </a:r>
          </a:p>
          <a:p>
            <a:endParaRPr lang="it-IT" dirty="0"/>
          </a:p>
          <a:p>
            <a:r>
              <a:rPr lang="it-IT" dirty="0"/>
              <a:t>Risoluzione numerica di equazioni non lineari.</a:t>
            </a:r>
            <a:endParaRPr lang="it-IT" i="1" dirty="0" smtClean="0"/>
          </a:p>
        </p:txBody>
      </p:sp>
      <p:sp>
        <p:nvSpPr>
          <p:cNvPr id="6" name="Rettangolo 5"/>
          <p:cNvSpPr/>
          <p:nvPr/>
        </p:nvSpPr>
        <p:spPr>
          <a:xfrm>
            <a:off x="1403648" y="764704"/>
            <a:ext cx="5040560" cy="64633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FFFF00"/>
                </a:solidFill>
              </a:rPr>
              <a:t>Ovvero: se la matematica ‘pura’ ci dice </a:t>
            </a:r>
            <a:r>
              <a:rPr lang="it-IT" dirty="0" smtClean="0">
                <a:solidFill>
                  <a:srgbClr val="FFFF00"/>
                </a:solidFill>
              </a:rPr>
              <a:t>tutto…</a:t>
            </a:r>
          </a:p>
          <a:p>
            <a:r>
              <a:rPr lang="it-IT" dirty="0" smtClean="0">
                <a:solidFill>
                  <a:srgbClr val="FFFF00"/>
                </a:solidFill>
              </a:rPr>
              <a:t>             … tranne </a:t>
            </a:r>
            <a:r>
              <a:rPr lang="it-IT" dirty="0">
                <a:solidFill>
                  <a:srgbClr val="FFFF00"/>
                </a:solidFill>
              </a:rPr>
              <a:t>il </a:t>
            </a:r>
            <a:r>
              <a:rPr lang="it-IT" dirty="0" smtClean="0">
                <a:solidFill>
                  <a:srgbClr val="FFFF00"/>
                </a:solidFill>
              </a:rPr>
              <a:t>risultato!</a:t>
            </a:r>
            <a:endParaRPr lang="it-IT" dirty="0">
              <a:solidFill>
                <a:srgbClr val="FFFF00"/>
              </a:solidFill>
            </a:endParaRPr>
          </a:p>
        </p:txBody>
      </p:sp>
      <p:cxnSp>
        <p:nvCxnSpPr>
          <p:cNvPr id="4" name="Connettore 2 3"/>
          <p:cNvCxnSpPr/>
          <p:nvPr/>
        </p:nvCxnSpPr>
        <p:spPr>
          <a:xfrm>
            <a:off x="2843808" y="2564904"/>
            <a:ext cx="86409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4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73269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Dal</a:t>
            </a:r>
            <a:r>
              <a:rPr lang="it-IT" sz="2400" b="0" dirty="0" smtClean="0"/>
              <a:t> </a:t>
            </a:r>
            <a:r>
              <a:rPr lang="it-IT" sz="2400" b="0" dirty="0">
                <a:solidFill>
                  <a:srgbClr val="C00000"/>
                </a:solidFill>
              </a:rPr>
              <a:t>problema reale </a:t>
            </a:r>
            <a:r>
              <a:rPr lang="it-IT" sz="2400" b="0" cap="none" dirty="0"/>
              <a:t>alla </a:t>
            </a:r>
            <a:r>
              <a:rPr lang="it-IT" sz="2400" b="0" cap="none" dirty="0" smtClean="0"/>
              <a:t>sua </a:t>
            </a:r>
            <a:r>
              <a:rPr lang="it-IT" sz="2400" b="0" dirty="0" smtClean="0">
                <a:solidFill>
                  <a:srgbClr val="C00000"/>
                </a:solidFill>
              </a:rPr>
              <a:t>risoluzione </a:t>
            </a:r>
            <a:r>
              <a:rPr lang="it-IT" sz="2400" b="0" dirty="0">
                <a:solidFill>
                  <a:srgbClr val="C00000"/>
                </a:solidFill>
              </a:rPr>
              <a:t>numerica</a:t>
            </a:r>
            <a:r>
              <a:rPr lang="it-IT" sz="2400" b="0" dirty="0"/>
              <a:t>:</a:t>
            </a:r>
            <a:br>
              <a:rPr lang="it-IT" sz="2400" b="0" dirty="0"/>
            </a:br>
            <a:r>
              <a:rPr lang="it-IT" sz="2400" b="0" cap="none" dirty="0"/>
              <a:t>il percorso della </a:t>
            </a:r>
            <a:r>
              <a:rPr lang="it-IT" sz="2400" b="0" cap="none" dirty="0">
                <a:solidFill>
                  <a:srgbClr val="C00000"/>
                </a:solidFill>
              </a:rPr>
              <a:t>Matematica </a:t>
            </a:r>
            <a:r>
              <a:rPr lang="it-IT" sz="2400" b="0" cap="none" dirty="0" smtClean="0">
                <a:solidFill>
                  <a:srgbClr val="C00000"/>
                </a:solidFill>
              </a:rPr>
              <a:t> Applicata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1484784"/>
            <a:ext cx="2088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Problema Reale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153764" y="1510338"/>
            <a:ext cx="2448272" cy="55399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Problema Matematico</a:t>
            </a:r>
          </a:p>
          <a:p>
            <a:pPr algn="ctr"/>
            <a:r>
              <a:rPr lang="it-IT" sz="1200" dirty="0"/>
              <a:t>(ben posto </a:t>
            </a:r>
            <a:r>
              <a:rPr lang="it-IT" sz="1200" dirty="0" smtClean="0"/>
              <a:t>?)</a:t>
            </a:r>
            <a:endParaRPr lang="it-IT" dirty="0"/>
          </a:p>
        </p:txBody>
      </p:sp>
      <p:cxnSp>
        <p:nvCxnSpPr>
          <p:cNvPr id="8" name="Connettore 2 7"/>
          <p:cNvCxnSpPr/>
          <p:nvPr/>
        </p:nvCxnSpPr>
        <p:spPr>
          <a:xfrm>
            <a:off x="2843808" y="1669450"/>
            <a:ext cx="20162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881536" y="1300118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modellizzazione</a:t>
            </a:r>
            <a:endParaRPr lang="it-IT" i="1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5153764" y="3246075"/>
            <a:ext cx="265859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Soluzione Approssimata</a:t>
            </a:r>
          </a:p>
        </p:txBody>
      </p:sp>
      <p:cxnSp>
        <p:nvCxnSpPr>
          <p:cNvPr id="11" name="Connettore 2 10"/>
          <p:cNvCxnSpPr/>
          <p:nvPr/>
        </p:nvCxnSpPr>
        <p:spPr>
          <a:xfrm>
            <a:off x="6377900" y="2158058"/>
            <a:ext cx="0" cy="982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6372200" y="2263972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risoluzione </a:t>
            </a:r>
          </a:p>
          <a:p>
            <a:pPr algn="ctr"/>
            <a:r>
              <a:rPr lang="it-IT" i="1" dirty="0" smtClean="0"/>
              <a:t>numerica</a:t>
            </a:r>
            <a:endParaRPr lang="it-IT" i="1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179512" y="3215550"/>
            <a:ext cx="3456384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Interpretazione della Soluzione</a:t>
            </a:r>
          </a:p>
          <a:p>
            <a:pPr algn="ctr"/>
            <a:r>
              <a:rPr lang="it-IT" dirty="0" smtClean="0"/>
              <a:t>Confronto con la Realtà</a:t>
            </a:r>
          </a:p>
        </p:txBody>
      </p:sp>
      <p:cxnSp>
        <p:nvCxnSpPr>
          <p:cNvPr id="16" name="Connettore 2 15"/>
          <p:cNvCxnSpPr/>
          <p:nvPr/>
        </p:nvCxnSpPr>
        <p:spPr>
          <a:xfrm flipV="1">
            <a:off x="1619672" y="1988840"/>
            <a:ext cx="0" cy="1133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/>
          <p:cNvCxnSpPr/>
          <p:nvPr/>
        </p:nvCxnSpPr>
        <p:spPr>
          <a:xfrm flipH="1">
            <a:off x="3805026" y="3430741"/>
            <a:ext cx="11537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3694541" y="3538715"/>
            <a:ext cx="1374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validazione</a:t>
            </a:r>
            <a:endParaRPr lang="it-IT" i="1" dirty="0"/>
          </a:p>
        </p:txBody>
      </p:sp>
      <p:cxnSp>
        <p:nvCxnSpPr>
          <p:cNvPr id="24" name="Connettore 2 23"/>
          <p:cNvCxnSpPr/>
          <p:nvPr/>
        </p:nvCxnSpPr>
        <p:spPr>
          <a:xfrm flipV="1">
            <a:off x="1907704" y="1821850"/>
            <a:ext cx="3104728" cy="1300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204026" y="2198720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conoscenza</a:t>
            </a:r>
            <a:endParaRPr lang="it-IT" i="1" dirty="0"/>
          </a:p>
        </p:txBody>
      </p:sp>
      <p:sp>
        <p:nvSpPr>
          <p:cNvPr id="27" name="CasellaDiTesto 26"/>
          <p:cNvSpPr txBox="1"/>
          <p:nvPr/>
        </p:nvSpPr>
        <p:spPr>
          <a:xfrm rot="20247971">
            <a:off x="2582757" y="2402472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modifica del modello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132141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89797" y="3861048"/>
            <a:ext cx="6851087" cy="21817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Ovale 2"/>
          <p:cNvSpPr/>
          <p:nvPr/>
        </p:nvSpPr>
        <p:spPr>
          <a:xfrm>
            <a:off x="1439652" y="2399054"/>
            <a:ext cx="2268252" cy="6699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73269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Dal</a:t>
            </a:r>
            <a:r>
              <a:rPr lang="it-IT" sz="2400" b="0" dirty="0" smtClean="0"/>
              <a:t> </a:t>
            </a:r>
            <a:r>
              <a:rPr lang="it-IT" sz="2400" b="0" dirty="0">
                <a:solidFill>
                  <a:srgbClr val="C00000"/>
                </a:solidFill>
              </a:rPr>
              <a:t>problema reale </a:t>
            </a:r>
            <a:r>
              <a:rPr lang="it-IT" sz="2400" b="0" cap="none" dirty="0"/>
              <a:t>alla </a:t>
            </a:r>
            <a:r>
              <a:rPr lang="it-IT" sz="2400" b="0" cap="none" dirty="0" smtClean="0"/>
              <a:t>sua </a:t>
            </a:r>
            <a:r>
              <a:rPr lang="it-IT" sz="2400" b="0" dirty="0" smtClean="0">
                <a:solidFill>
                  <a:srgbClr val="C00000"/>
                </a:solidFill>
              </a:rPr>
              <a:t>risoluzione </a:t>
            </a:r>
            <a:r>
              <a:rPr lang="it-IT" sz="2400" b="0" dirty="0">
                <a:solidFill>
                  <a:srgbClr val="C00000"/>
                </a:solidFill>
              </a:rPr>
              <a:t>numerica</a:t>
            </a:r>
            <a:r>
              <a:rPr lang="it-IT" sz="2400" b="0" dirty="0"/>
              <a:t>:</a:t>
            </a:r>
            <a:br>
              <a:rPr lang="it-IT" sz="2400" b="0" dirty="0"/>
            </a:br>
            <a:r>
              <a:rPr lang="it-IT" sz="2400" b="0" cap="none" dirty="0"/>
              <a:t>il percorso della </a:t>
            </a:r>
            <a:r>
              <a:rPr lang="it-IT" sz="2400" b="0" cap="none" dirty="0">
                <a:solidFill>
                  <a:srgbClr val="C00000"/>
                </a:solidFill>
              </a:rPr>
              <a:t>Matematica </a:t>
            </a:r>
            <a:r>
              <a:rPr lang="it-IT" sz="2400" b="0" cap="none" dirty="0" smtClean="0">
                <a:solidFill>
                  <a:srgbClr val="C00000"/>
                </a:solidFill>
              </a:rPr>
              <a:t> Applicata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1484784"/>
            <a:ext cx="2088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Problema Reale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153764" y="1510338"/>
            <a:ext cx="2448272" cy="55399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Problema Matematico</a:t>
            </a:r>
          </a:p>
          <a:p>
            <a:pPr algn="ctr"/>
            <a:r>
              <a:rPr lang="it-IT" sz="1200" dirty="0"/>
              <a:t>(ben posto </a:t>
            </a:r>
            <a:r>
              <a:rPr lang="it-IT" sz="1200" dirty="0" smtClean="0"/>
              <a:t>?)</a:t>
            </a:r>
            <a:endParaRPr lang="it-IT" dirty="0"/>
          </a:p>
        </p:txBody>
      </p:sp>
      <p:cxnSp>
        <p:nvCxnSpPr>
          <p:cNvPr id="8" name="Connettore 2 7"/>
          <p:cNvCxnSpPr/>
          <p:nvPr/>
        </p:nvCxnSpPr>
        <p:spPr>
          <a:xfrm>
            <a:off x="2843808" y="1669450"/>
            <a:ext cx="20162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881536" y="1300118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chemeClr val="accent5">
                    <a:lumMod val="75000"/>
                  </a:schemeClr>
                </a:solidFill>
              </a:rPr>
              <a:t>modellizzazione</a:t>
            </a:r>
            <a:endParaRPr lang="it-IT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5153764" y="3246075"/>
            <a:ext cx="2658596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Soluzione Approssimata</a:t>
            </a:r>
          </a:p>
        </p:txBody>
      </p:sp>
      <p:cxnSp>
        <p:nvCxnSpPr>
          <p:cNvPr id="11" name="Connettore 2 10"/>
          <p:cNvCxnSpPr/>
          <p:nvPr/>
        </p:nvCxnSpPr>
        <p:spPr>
          <a:xfrm>
            <a:off x="6377900" y="2158058"/>
            <a:ext cx="0" cy="982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6372200" y="2263972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chemeClr val="accent5">
                    <a:lumMod val="75000"/>
                  </a:schemeClr>
                </a:solidFill>
              </a:rPr>
              <a:t>risoluzione </a:t>
            </a:r>
          </a:p>
          <a:p>
            <a:pPr algn="ctr"/>
            <a:r>
              <a:rPr lang="it-IT" i="1" dirty="0" smtClean="0">
                <a:solidFill>
                  <a:schemeClr val="accent5">
                    <a:lumMod val="75000"/>
                  </a:schemeClr>
                </a:solidFill>
              </a:rPr>
              <a:t>numerica</a:t>
            </a:r>
            <a:endParaRPr lang="it-IT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CasellaDiTesto 16"/>
          <p:cNvSpPr txBox="1"/>
          <p:nvPr/>
        </p:nvSpPr>
        <p:spPr>
          <a:xfrm>
            <a:off x="1583668" y="2576169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chemeClr val="bg1"/>
                </a:solidFill>
              </a:rPr>
              <a:t>Fonti di Errore!!!!</a:t>
            </a:r>
            <a:endParaRPr lang="it-IT" i="1" dirty="0">
              <a:solidFill>
                <a:schemeClr val="bg1"/>
              </a:solidFill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852812" y="4005064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chemeClr val="accent1"/>
                </a:solidFill>
              </a:rPr>
              <a:t>modellizzazione</a:t>
            </a:r>
            <a:endParaRPr lang="it-IT" i="1" dirty="0">
              <a:solidFill>
                <a:schemeClr val="accent1"/>
              </a:solidFill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3491880" y="4005064"/>
            <a:ext cx="377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errori semplificazione della realtà</a:t>
            </a:r>
            <a:endParaRPr lang="it-IT" i="1" dirty="0"/>
          </a:p>
        </p:txBody>
      </p:sp>
      <p:sp>
        <p:nvSpPr>
          <p:cNvPr id="22" name="CasellaDiTesto 21"/>
          <p:cNvSpPr txBox="1"/>
          <p:nvPr/>
        </p:nvSpPr>
        <p:spPr>
          <a:xfrm>
            <a:off x="834162" y="4641254"/>
            <a:ext cx="2441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chemeClr val="accent1"/>
                </a:solidFill>
              </a:rPr>
              <a:t>risoluzione numerica:</a:t>
            </a:r>
          </a:p>
          <a:p>
            <a:pPr marL="285750" indent="-285750">
              <a:buFontTx/>
              <a:buChar char="-"/>
            </a:pPr>
            <a:r>
              <a:rPr lang="it-IT" i="1" dirty="0">
                <a:solidFill>
                  <a:schemeClr val="accent1"/>
                </a:solidFill>
              </a:rPr>
              <a:t>d</a:t>
            </a:r>
            <a:r>
              <a:rPr lang="it-IT" i="1" dirty="0" smtClean="0">
                <a:solidFill>
                  <a:schemeClr val="accent1"/>
                </a:solidFill>
              </a:rPr>
              <a:t>iscretizzazione</a:t>
            </a:r>
          </a:p>
          <a:p>
            <a:pPr marL="285750" indent="-285750">
              <a:buFontTx/>
              <a:buChar char="-"/>
            </a:pPr>
            <a:r>
              <a:rPr lang="it-IT" i="1" dirty="0" smtClean="0">
                <a:solidFill>
                  <a:schemeClr val="accent1"/>
                </a:solidFill>
              </a:rPr>
              <a:t>calcolatore</a:t>
            </a:r>
          </a:p>
          <a:p>
            <a:pPr marL="285750" indent="-285750">
              <a:buFontTx/>
              <a:buChar char="-"/>
            </a:pPr>
            <a:r>
              <a:rPr lang="it-IT" i="1" dirty="0" smtClean="0">
                <a:solidFill>
                  <a:schemeClr val="accent1"/>
                </a:solidFill>
              </a:rPr>
              <a:t>algoritmi</a:t>
            </a:r>
            <a:endParaRPr lang="it-IT" i="1" dirty="0">
              <a:solidFill>
                <a:schemeClr val="accent1"/>
              </a:solidFill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3531308" y="4953942"/>
            <a:ext cx="29883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/>
              <a:t>errore analitico</a:t>
            </a:r>
          </a:p>
          <a:p>
            <a:r>
              <a:rPr lang="it-IT" i="1" dirty="0" smtClean="0"/>
              <a:t>errore di rappresentazione</a:t>
            </a:r>
          </a:p>
          <a:p>
            <a:r>
              <a:rPr lang="it-IT" i="1" dirty="0" smtClean="0"/>
              <a:t>errore algoritmico</a:t>
            </a:r>
          </a:p>
        </p:txBody>
      </p:sp>
      <p:sp>
        <p:nvSpPr>
          <p:cNvPr id="5" name="Rettangolo 4"/>
          <p:cNvSpPr/>
          <p:nvPr/>
        </p:nvSpPr>
        <p:spPr>
          <a:xfrm>
            <a:off x="216024" y="6258798"/>
            <a:ext cx="77403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00" i="1" dirty="0">
                <a:solidFill>
                  <a:schemeClr val="accent1"/>
                </a:solidFill>
              </a:rPr>
              <a:t>Es</a:t>
            </a:r>
            <a:r>
              <a:rPr lang="it-IT" sz="1600" i="1" dirty="0"/>
              <a:t>: </a:t>
            </a:r>
            <a:r>
              <a:rPr lang="it-IT" sz="1600" i="1" dirty="0" smtClean="0"/>
              <a:t>- radice quadrata di 2…      elevo al quadrato=…    sottraggo 2=????</a:t>
            </a:r>
          </a:p>
        </p:txBody>
      </p:sp>
      <p:cxnSp>
        <p:nvCxnSpPr>
          <p:cNvPr id="13" name="Connettore 1 12"/>
          <p:cNvCxnSpPr/>
          <p:nvPr/>
        </p:nvCxnSpPr>
        <p:spPr>
          <a:xfrm>
            <a:off x="489797" y="4569246"/>
            <a:ext cx="68510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27"/>
          <p:cNvCxnSpPr/>
          <p:nvPr/>
        </p:nvCxnSpPr>
        <p:spPr>
          <a:xfrm>
            <a:off x="3419872" y="3861048"/>
            <a:ext cx="0" cy="2181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13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1907704" y="620688"/>
            <a:ext cx="4464496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7239000" cy="157504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smtClean="0">
                <a:solidFill>
                  <a:srgbClr val="FFFF00"/>
                </a:solidFill>
              </a:rPr>
              <a:t>calcolo numerico </a:t>
            </a:r>
            <a:br>
              <a:rPr lang="it-IT" dirty="0" smtClean="0">
                <a:solidFill>
                  <a:srgbClr val="FFFF00"/>
                </a:solidFill>
              </a:rPr>
            </a:br>
            <a:r>
              <a:rPr lang="it-IT" b="0" cap="none" dirty="0">
                <a:solidFill>
                  <a:srgbClr val="FFFF00"/>
                </a:solidFill>
              </a:rPr>
              <a:t>e</a:t>
            </a:r>
            <a:r>
              <a:rPr lang="it-IT" b="0" cap="none" dirty="0" smtClean="0">
                <a:solidFill>
                  <a:srgbClr val="FFFF00"/>
                </a:solidFill>
              </a:rPr>
              <a:t> </a:t>
            </a:r>
            <a:br>
              <a:rPr lang="it-IT" b="0" cap="none" dirty="0" smtClean="0">
                <a:solidFill>
                  <a:srgbClr val="FFFF00"/>
                </a:solidFill>
              </a:rPr>
            </a:br>
            <a:r>
              <a:rPr lang="it-IT" dirty="0" smtClean="0">
                <a:solidFill>
                  <a:srgbClr val="FFFF00"/>
                </a:solidFill>
              </a:rPr>
              <a:t>analisi numerica</a:t>
            </a:r>
            <a:endParaRPr lang="it-IT" dirty="0">
              <a:solidFill>
                <a:srgbClr val="FFFF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212976"/>
            <a:ext cx="7239000" cy="2232248"/>
          </a:xfrm>
        </p:spPr>
        <p:txBody>
          <a:bodyPr>
            <a:normAutofit/>
          </a:bodyPr>
          <a:lstStyle/>
          <a:p>
            <a:pPr algn="just"/>
            <a:r>
              <a:rPr lang="it-IT" sz="2000" dirty="0" smtClean="0"/>
              <a:t>l’arte </a:t>
            </a:r>
            <a:r>
              <a:rPr lang="it-IT" sz="2000" dirty="0"/>
              <a:t>di dare una </a:t>
            </a:r>
            <a:r>
              <a:rPr lang="it-IT" sz="2000" b="1" dirty="0">
                <a:solidFill>
                  <a:schemeClr val="accent5">
                    <a:lumMod val="75000"/>
                  </a:schemeClr>
                </a:solidFill>
              </a:rPr>
              <a:t>risposta numerica </a:t>
            </a:r>
            <a:r>
              <a:rPr lang="it-IT" sz="2000" dirty="0" smtClean="0"/>
              <a:t>ad </a:t>
            </a:r>
            <a:r>
              <a:rPr lang="it-IT" sz="2000" dirty="0"/>
              <a:t>un </a:t>
            </a:r>
            <a:r>
              <a:rPr lang="it-IT" sz="2000" dirty="0" smtClean="0"/>
              <a:t>problema matematico </a:t>
            </a:r>
            <a:r>
              <a:rPr lang="it-IT" sz="2000" dirty="0"/>
              <a:t>mediante un calcolatore automatico </a:t>
            </a:r>
            <a:r>
              <a:rPr lang="it-IT" sz="2000" dirty="0" smtClean="0"/>
              <a:t>digitale</a:t>
            </a:r>
          </a:p>
          <a:p>
            <a:pPr marL="0" indent="0" algn="just">
              <a:buNone/>
            </a:pPr>
            <a:endParaRPr lang="it-IT" sz="2000" dirty="0"/>
          </a:p>
          <a:p>
            <a:pPr algn="just"/>
            <a:r>
              <a:rPr lang="it-IT" sz="2000" dirty="0" smtClean="0"/>
              <a:t>obiettivo: </a:t>
            </a:r>
            <a:r>
              <a:rPr lang="it-IT" sz="2000" dirty="0"/>
              <a:t>sviluppare la capacità di individuare l’algoritmo </a:t>
            </a:r>
            <a:r>
              <a:rPr lang="it-IT" sz="2000" dirty="0" smtClean="0"/>
              <a:t>che risolve </a:t>
            </a:r>
            <a:r>
              <a:rPr lang="it-IT" sz="2000" dirty="0"/>
              <a:t>un problema nel </a:t>
            </a:r>
            <a:r>
              <a:rPr lang="it-IT" sz="2000" b="1" dirty="0">
                <a:solidFill>
                  <a:schemeClr val="accent5">
                    <a:lumMod val="75000"/>
                  </a:schemeClr>
                </a:solidFill>
              </a:rPr>
              <a:t>minimo tempo possibile </a:t>
            </a:r>
            <a:r>
              <a:rPr lang="it-IT" sz="2000" dirty="0"/>
              <a:t>e con </a:t>
            </a:r>
            <a:r>
              <a:rPr lang="it-IT" sz="2000" dirty="0" smtClean="0"/>
              <a:t>la </a:t>
            </a:r>
            <a:r>
              <a:rPr lang="it-IT" sz="2000" b="1" dirty="0" smtClean="0">
                <a:solidFill>
                  <a:schemeClr val="accent5">
                    <a:lumMod val="75000"/>
                  </a:schemeClr>
                </a:solidFill>
              </a:rPr>
              <a:t>massima accuratezza</a:t>
            </a:r>
            <a:endParaRPr lang="it-IT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13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6368" y="1052736"/>
            <a:ext cx="7499176" cy="2035608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La disponibilità di calcolatori programmabili, potenti e affidabili </a:t>
            </a:r>
            <a:r>
              <a:rPr lang="it-IT" dirty="0" smtClean="0"/>
              <a:t>è una </a:t>
            </a:r>
            <a:r>
              <a:rPr lang="it-IT" dirty="0"/>
              <a:t>componente imprescindibile per lo sviluppo del </a:t>
            </a:r>
            <a:r>
              <a:rPr lang="it-IT" dirty="0" smtClean="0"/>
              <a:t>calcolo numerico </a:t>
            </a:r>
            <a:r>
              <a:rPr lang="it-IT" dirty="0"/>
              <a:t>e del progetto di un algoritmo. </a:t>
            </a:r>
            <a:endParaRPr lang="it-IT" dirty="0" smtClean="0"/>
          </a:p>
          <a:p>
            <a:pPr marL="0" indent="0">
              <a:buNone/>
            </a:pPr>
            <a:endParaRPr lang="it-IT" dirty="0" smtClean="0"/>
          </a:p>
          <a:p>
            <a:r>
              <a:rPr lang="it-IT" dirty="0" smtClean="0"/>
              <a:t>Gli </a:t>
            </a:r>
            <a:r>
              <a:rPr lang="it-IT" dirty="0"/>
              <a:t>aspetti tecnici </a:t>
            </a:r>
            <a:r>
              <a:rPr lang="it-IT" dirty="0" smtClean="0"/>
              <a:t>quali: velocità</a:t>
            </a:r>
            <a:r>
              <a:rPr lang="it-IT" dirty="0"/>
              <a:t>, capacità di memoria, uso interattivo, lavoro in </a:t>
            </a:r>
            <a:r>
              <a:rPr lang="it-IT" dirty="0" smtClean="0"/>
              <a:t>parallelo ecc</a:t>
            </a:r>
            <a:r>
              <a:rPr lang="it-IT" dirty="0"/>
              <a:t>. sono in continua evoluzione e possono suggerire </a:t>
            </a:r>
            <a:r>
              <a:rPr lang="it-IT" dirty="0" smtClean="0"/>
              <a:t>nuovi orientamenti</a:t>
            </a:r>
            <a:r>
              <a:rPr lang="it-IT" dirty="0"/>
              <a:t>, rendere obsoleti alcuni metodi, rivalutarne </a:t>
            </a:r>
            <a:r>
              <a:rPr lang="it-IT" dirty="0" smtClean="0"/>
              <a:t>altri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 smtClean="0"/>
              <a:t>La </a:t>
            </a:r>
            <a:r>
              <a:rPr lang="it-IT" dirty="0"/>
              <a:t>storia del Calcolo Numerico nasce per dare una </a:t>
            </a:r>
            <a:r>
              <a:rPr lang="it-IT" dirty="0" smtClean="0"/>
              <a:t>risposta numerica </a:t>
            </a:r>
            <a:r>
              <a:rPr lang="it-IT" dirty="0"/>
              <a:t>a problemi reali e coincide con quella </a:t>
            </a:r>
            <a:r>
              <a:rPr lang="it-IT" dirty="0" smtClean="0"/>
              <a:t>della matematica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467544" y="3493006"/>
            <a:ext cx="756084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sz="1400" b="1" dirty="0" smtClean="0"/>
              <a:t>1650 a.C.</a:t>
            </a:r>
            <a:r>
              <a:rPr lang="it-IT" sz="1400" dirty="0" smtClean="0"/>
              <a:t> In un papiro egizio trovato un metodo per calcolare le radici di una semplice equazione </a:t>
            </a:r>
          </a:p>
          <a:p>
            <a:endParaRPr lang="it-IT" sz="1400" dirty="0" smtClean="0"/>
          </a:p>
          <a:p>
            <a:r>
              <a:rPr lang="it-IT" sz="1400" b="1" dirty="0" smtClean="0"/>
              <a:t>260 a.C</a:t>
            </a:r>
            <a:r>
              <a:rPr lang="it-IT" sz="1400" dirty="0" smtClean="0"/>
              <a:t>. Archimede propone il metodo di esaustione per il calcolo di aree e volumi di figure geometriche</a:t>
            </a:r>
          </a:p>
          <a:p>
            <a:endParaRPr lang="it-IT" sz="1400" dirty="0" smtClean="0"/>
          </a:p>
          <a:p>
            <a:r>
              <a:rPr lang="it-IT" sz="1400" dirty="0"/>
              <a:t>Newton (</a:t>
            </a:r>
            <a:r>
              <a:rPr lang="it-IT" sz="1400" b="1" dirty="0" smtClean="0"/>
              <a:t>1642-1727</a:t>
            </a:r>
            <a:r>
              <a:rPr lang="it-IT" sz="1400" dirty="0" smtClean="0"/>
              <a:t>) e </a:t>
            </a:r>
            <a:r>
              <a:rPr lang="it-IT" sz="1400" dirty="0" err="1" smtClean="0"/>
              <a:t>Leibniz</a:t>
            </a:r>
            <a:r>
              <a:rPr lang="it-IT" sz="1400" dirty="0" smtClean="0"/>
              <a:t> (1646-1716) hanno sviluppato numerosi procedimenti numerici per lo studio della realtà fisica</a:t>
            </a:r>
          </a:p>
          <a:p>
            <a:endParaRPr lang="it-IT" sz="1400" dirty="0" smtClean="0"/>
          </a:p>
          <a:p>
            <a:r>
              <a:rPr lang="it-IT" sz="1400" dirty="0" smtClean="0"/>
              <a:t>Eulero (1707-1786), Lagrange (1736-1813), Gauss(</a:t>
            </a:r>
            <a:r>
              <a:rPr lang="it-IT" sz="1400" b="1" dirty="0" smtClean="0"/>
              <a:t>1777-1855</a:t>
            </a:r>
            <a:r>
              <a:rPr lang="it-IT" sz="1400" dirty="0" smtClean="0"/>
              <a:t>)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10298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333812" y="1709514"/>
            <a:ext cx="7632848" cy="32316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sz="1400" b="1" dirty="0" smtClean="0"/>
              <a:t>2007 d.C.</a:t>
            </a:r>
            <a:r>
              <a:rPr lang="it-IT" sz="1400" dirty="0" smtClean="0"/>
              <a:t> Politecnico di Milano</a:t>
            </a:r>
          </a:p>
          <a:p>
            <a:endParaRPr lang="it-IT" sz="1400" dirty="0"/>
          </a:p>
          <a:p>
            <a:r>
              <a:rPr lang="it-IT" sz="1400" dirty="0"/>
              <a:t>I progressi tecnici compiuti dal team nei 4 anni che sono passati tra le due edizioni della Coppa America sono notevoli: se per l'edizione del debutto di </a:t>
            </a:r>
            <a:r>
              <a:rPr lang="it-IT" sz="1400" i="1" dirty="0" err="1" smtClean="0"/>
              <a:t>Alinghi</a:t>
            </a:r>
            <a:r>
              <a:rPr lang="it-IT" sz="1400" i="1" dirty="0" smtClean="0"/>
              <a:t> </a:t>
            </a:r>
            <a:r>
              <a:rPr lang="it-IT" sz="1400" dirty="0" smtClean="0"/>
              <a:t>(2003), </a:t>
            </a:r>
            <a:r>
              <a:rPr lang="it-IT" sz="1400" dirty="0"/>
              <a:t>si era riusciti </a:t>
            </a:r>
            <a:r>
              <a:rPr lang="it-IT" sz="1400" dirty="0" smtClean="0"/>
              <a:t>ad eseguire </a:t>
            </a:r>
            <a:r>
              <a:rPr lang="it-IT" sz="1400" dirty="0"/>
              <a:t>al computer </a:t>
            </a:r>
            <a:r>
              <a:rPr lang="it-IT" sz="1400" dirty="0" smtClean="0"/>
              <a:t>simulazioni con circa </a:t>
            </a:r>
            <a:r>
              <a:rPr lang="it-IT" sz="1400" dirty="0"/>
              <a:t>100 imbarcazioni di forma diversa usando circa </a:t>
            </a:r>
            <a:r>
              <a:rPr lang="it-IT" sz="3200" b="1" dirty="0">
                <a:solidFill>
                  <a:schemeClr val="accent5">
                    <a:lumMod val="75000"/>
                  </a:schemeClr>
                </a:solidFill>
              </a:rPr>
              <a:t>30 milioni di equazioni</a:t>
            </a:r>
            <a:r>
              <a:rPr lang="it-IT" sz="1400" dirty="0"/>
              <a:t>, per la nuova edizione del </a:t>
            </a:r>
            <a:r>
              <a:rPr lang="it-IT" sz="1400" dirty="0" smtClean="0"/>
              <a:t>2007 </a:t>
            </a:r>
            <a:r>
              <a:rPr lang="it-IT" sz="1400" dirty="0"/>
              <a:t>sono state simulate oltre 400 configurazioni, prima di costruire la barca migliore, </a:t>
            </a:r>
            <a:r>
              <a:rPr lang="it-IT" sz="1400" dirty="0" smtClean="0"/>
              <a:t>calcolando oltre </a:t>
            </a:r>
            <a:r>
              <a:rPr lang="it-IT" sz="3200" b="1" dirty="0">
                <a:solidFill>
                  <a:schemeClr val="accent5">
                    <a:lumMod val="75000"/>
                  </a:schemeClr>
                </a:solidFill>
              </a:rPr>
              <a:t>135 milioni di incognite</a:t>
            </a:r>
            <a:r>
              <a:rPr lang="it-IT" sz="1400" dirty="0"/>
              <a:t>. Tali simulazioni hanno permesso di quantificare le resistenze che la barca incontra, e come conseguenza di capire come trovare le forme migliori che minimizzano tali resistenze, aumentando pertanto la velocità della barca stessa. A questo si è aggiunta la nuova capacità di simulare la dinamica della deformazione delle vele sotto l'azione del vento.</a:t>
            </a:r>
            <a:endParaRPr lang="it-IT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851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wired.com/photos/59267768af95806129f4f899/master/w_628,c_limit/Oracle_TA_SG170116_DSC8139.jpg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6" r="10883" b="10997"/>
          <a:stretch/>
        </p:blipFill>
        <p:spPr bwMode="auto">
          <a:xfrm>
            <a:off x="97599" y="111385"/>
            <a:ext cx="3512458" cy="370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https://www.gelestatic.it/thimg/hdPSBIGZ53tpPMeVVvvQQSgWZhU=/fit-in/960x540/filters:format(webp)/https%3A/www.lastampa.it/image/contentid/policy%3A1.34266505%3A1562405299/RP170516_AC35_1472-kKTE-U11002900309020rGH-1024x576%40LaStampa.it.jpg%3Ff%3Ddetail_558%26h%3D720%26w%3D1280%26%24p%24f%24h%24w%3Dd155f0c"/>
          <p:cNvSpPr>
            <a:spLocks noChangeAspect="1" noChangeArrowheads="1"/>
          </p:cNvSpPr>
          <p:nvPr/>
        </p:nvSpPr>
        <p:spPr bwMode="auto">
          <a:xfrm>
            <a:off x="63500" y="-136525"/>
            <a:ext cx="638175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3" name="AutoShape 6" descr="https://www.gelestatic.it/thimg/hdPSBIGZ53tpPMeVVvvQQSgWZhU=/fit-in/960x540/filters:format(webp)/https%3A/www.lastampa.it/image/contentid/policy%3A1.34266505%3A1562405299/RP170516_AC35_1472-kKTE-U11002900309020rGH-1024x576%40LaStampa.it.jpg%3Ff%3Ddetail_558%26h%3D720%26w%3D1280%26%24p%24f%24h%24w%3Dd155f0c"/>
          <p:cNvSpPr>
            <a:spLocks noChangeAspect="1" noChangeArrowheads="1"/>
          </p:cNvSpPr>
          <p:nvPr/>
        </p:nvSpPr>
        <p:spPr bwMode="auto">
          <a:xfrm>
            <a:off x="215900" y="15875"/>
            <a:ext cx="638175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" name="AutoShape 8" descr="https://www.gelestatic.it/thimg/hdPSBIGZ53tpPMeVVvvQQSgWZhU=/fit-in/960x540/filters:format(webp)/https%3A/www.lastampa.it/image/contentid/policy%3A1.34266505%3A1562405299/RP170516_AC35_1472-kKTE-U11002900309020rGH-1024x576%40LaStampa.it.jpg%3Ff%3Ddetail_558%26h%3D720%26w%3D1280%26%24p%24f%24h%24w%3Dd155f0c"/>
          <p:cNvSpPr>
            <a:spLocks noChangeAspect="1" noChangeArrowheads="1"/>
          </p:cNvSpPr>
          <p:nvPr/>
        </p:nvSpPr>
        <p:spPr bwMode="auto">
          <a:xfrm>
            <a:off x="368300" y="168275"/>
            <a:ext cx="638175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AutoShape 10" descr="https://www.gelestatic.it/thimg/hdPSBIGZ53tpPMeVVvvQQSgWZhU=/fit-in/960x540/filters:format(webp)/https%3A/www.lastampa.it/image/contentid/policy%3A1.34266505%3A1562405299/RP170516_AC35_1472-kKTE-U11002900309020rGH-1024x576%40LaStampa.it.jpg%3Ff%3Ddetail_558%26h%3D720%26w%3D1280%26%24p%24f%24h%24w%3Dd155f0c"/>
          <p:cNvSpPr>
            <a:spLocks noChangeAspect="1" noChangeArrowheads="1"/>
          </p:cNvSpPr>
          <p:nvPr/>
        </p:nvSpPr>
        <p:spPr bwMode="auto">
          <a:xfrm>
            <a:off x="63500" y="-13652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38" name="Picture 14" descr="Risultato immagini per oracle america's cup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400" y="3933055"/>
            <a:ext cx="4917816" cy="275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4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068041" y="1422068"/>
            <a:ext cx="2590581" cy="9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107504" y="116632"/>
            <a:ext cx="7920880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it-IT" sz="2400" dirty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latin typeface="+mj-lt"/>
                <a:ea typeface="+mj-ea"/>
                <a:cs typeface="+mj-cs"/>
              </a:rPr>
              <a:t>Il tempo è denaro…</a:t>
            </a:r>
          </a:p>
          <a:p>
            <a:pPr>
              <a:spcBef>
                <a:spcPct val="0"/>
              </a:spcBef>
            </a:pPr>
            <a:r>
              <a:rPr lang="it-IT" dirty="0"/>
              <a:t>Ovvero: come risolvere un </a:t>
            </a:r>
            <a:r>
              <a:rPr lang="it-IT" dirty="0" smtClean="0"/>
              <a:t>problema in </a:t>
            </a:r>
            <a:r>
              <a:rPr lang="it-IT" dirty="0"/>
              <a:t>tempo </a:t>
            </a:r>
            <a:r>
              <a:rPr lang="it-IT" dirty="0" smtClean="0"/>
              <a:t>reale (prima </a:t>
            </a:r>
            <a:r>
              <a:rPr lang="it-IT" dirty="0"/>
              <a:t>di invecchiare)</a:t>
            </a:r>
          </a:p>
        </p:txBody>
      </p:sp>
      <p:sp>
        <p:nvSpPr>
          <p:cNvPr id="3" name="Rettangolo 2"/>
          <p:cNvSpPr/>
          <p:nvPr/>
        </p:nvSpPr>
        <p:spPr>
          <a:xfrm>
            <a:off x="179512" y="1052736"/>
            <a:ext cx="1122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 smtClean="0">
                <a:solidFill>
                  <a:schemeClr val="accent5">
                    <a:lumMod val="75000"/>
                  </a:schemeClr>
                </a:solidFill>
              </a:rPr>
              <a:t>Esempio:</a:t>
            </a:r>
            <a:endParaRPr lang="it-IT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38823" y="1516142"/>
            <a:ext cx="3315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 smtClean="0"/>
              <a:t>Risoluzione un sistema lineare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4067944" y="1470272"/>
                <a:ext cx="12196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𝐴𝑥</m:t>
                      </m:r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it-IT" sz="2400" b="0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470272"/>
                <a:ext cx="1219629" cy="4616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/>
              <p:cNvSpPr txBox="1"/>
              <p:nvPr/>
            </p:nvSpPr>
            <p:spPr>
              <a:xfrm>
                <a:off x="4068041" y="1850796"/>
                <a:ext cx="2590581" cy="570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400" b="0" i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it-IT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≠0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it-IT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groupChrPr>
                        <m:e/>
                      </m:groupChr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∃!</m:t>
                      </m:r>
                      <m:r>
                        <a:rPr lang="it-IT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</m:oMath>
                  </m:oMathPara>
                </a14:m>
                <a:endParaRPr lang="it-IT" sz="2400" b="0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sellaDiTes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41" y="1850796"/>
                <a:ext cx="2590581" cy="570092"/>
              </a:xfrm>
              <a:prstGeom prst="rect">
                <a:avLst/>
              </a:prstGeom>
              <a:blipFill rotWithShape="1">
                <a:blip r:embed="rId3"/>
                <a:stretch>
                  <a:fillRect t="-33333" r="-10588" b="-483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tangolo 7"/>
          <p:cNvSpPr/>
          <p:nvPr/>
        </p:nvSpPr>
        <p:spPr>
          <a:xfrm>
            <a:off x="107504" y="2666290"/>
            <a:ext cx="343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/>
              <a:t>Algebra lineare </a:t>
            </a:r>
            <a:r>
              <a:rPr lang="it-IT" dirty="0" smtClean="0"/>
              <a:t>: - sostituzione</a:t>
            </a:r>
          </a:p>
          <a:p>
            <a:r>
              <a:rPr lang="it-IT" dirty="0"/>
              <a:t>	</a:t>
            </a:r>
            <a:r>
              <a:rPr lang="it-IT" dirty="0" smtClean="0"/>
              <a:t>              - </a:t>
            </a:r>
            <a:r>
              <a:rPr lang="it-IT" dirty="0" err="1" smtClean="0">
                <a:solidFill>
                  <a:schemeClr val="tx2"/>
                </a:solidFill>
              </a:rPr>
              <a:t>Cramer</a:t>
            </a:r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9" name="Rettangolo 8"/>
          <p:cNvSpPr/>
          <p:nvPr/>
        </p:nvSpPr>
        <p:spPr>
          <a:xfrm>
            <a:off x="3563888" y="2647945"/>
            <a:ext cx="40623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/>
              <a:t>Calcolo numerico </a:t>
            </a:r>
            <a:r>
              <a:rPr lang="it-IT" dirty="0" smtClean="0"/>
              <a:t>: - </a:t>
            </a:r>
            <a:r>
              <a:rPr lang="it-IT" dirty="0" smtClean="0">
                <a:solidFill>
                  <a:schemeClr val="tx2"/>
                </a:solidFill>
              </a:rPr>
              <a:t>Gauss</a:t>
            </a:r>
          </a:p>
          <a:p>
            <a:r>
              <a:rPr lang="it-IT" dirty="0"/>
              <a:t>	</a:t>
            </a:r>
            <a:r>
              <a:rPr lang="it-IT" dirty="0" smtClean="0"/>
              <a:t>                 - metodi diretti</a:t>
            </a:r>
          </a:p>
          <a:p>
            <a:r>
              <a:rPr lang="it-IT" dirty="0"/>
              <a:t>	 </a:t>
            </a:r>
            <a:r>
              <a:rPr lang="it-IT" dirty="0" smtClean="0"/>
              <a:t>                - metodi iterativi</a:t>
            </a:r>
          </a:p>
          <a:p>
            <a:r>
              <a:rPr lang="it-IT" dirty="0"/>
              <a:t>	</a:t>
            </a:r>
            <a:r>
              <a:rPr lang="it-IT" dirty="0" smtClean="0"/>
              <a:t>	    - …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543685"/>
                  </p:ext>
                </p:extLst>
              </p:nvPr>
            </p:nvGraphicFramePr>
            <p:xfrm>
              <a:off x="395535" y="3857456"/>
              <a:ext cx="489203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2169"/>
                    <a:gridCol w="1440160"/>
                    <a:gridCol w="193970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aseline="0" dirty="0" smtClean="0"/>
                            <a:t>n. incognite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err="1" smtClean="0"/>
                            <a:t>Cramer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Gauss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12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104 minuti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7.2 10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secondi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13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24 ore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9.0 10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14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15 giorni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1.1 10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20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anni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3.1 10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30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20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anni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9.9 10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−3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50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52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anni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it-IT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4.4 10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it-IT" dirty="0" smtClean="0"/>
                            <a:t> s</a:t>
                          </a:r>
                          <a:endParaRPr lang="it-IT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543685"/>
                  </p:ext>
                </p:extLst>
              </p:nvPr>
            </p:nvGraphicFramePr>
            <p:xfrm>
              <a:off x="395535" y="3857456"/>
              <a:ext cx="489203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2169"/>
                    <a:gridCol w="1440160"/>
                    <a:gridCol w="1939708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aseline="0" dirty="0" smtClean="0"/>
                            <a:t>n. incognite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err="1" smtClean="0"/>
                            <a:t>Cramer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Gauss</a:t>
                          </a:r>
                          <a:endParaRPr lang="it-IT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12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104 minuti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109836" r="-314" b="-5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13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24 ore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209836" r="-314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14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15 giorni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315000" r="-314" b="-33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20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5508" t="-408197" r="-1351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408197" r="-314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30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5508" t="-508197" r="-1351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508197" r="-314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dirty="0" smtClean="0"/>
                            <a:t>50</a:t>
                          </a: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5508" t="-608197" r="-13516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52516" t="-608197" r="-3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10"/>
              <p:cNvSpPr/>
              <p:nvPr/>
            </p:nvSpPr>
            <p:spPr>
              <a:xfrm>
                <a:off x="5364088" y="4725144"/>
                <a:ext cx="2239716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i="1" dirty="0"/>
                  <a:t>i</a:t>
                </a:r>
                <a:r>
                  <a:rPr lang="it-IT" i="1" dirty="0" smtClean="0"/>
                  <a:t>potesi</a:t>
                </a:r>
                <a:r>
                  <a:rPr lang="it-IT" dirty="0" smtClean="0"/>
                  <a:t>:</a:t>
                </a:r>
              </a:p>
              <a:p>
                <a:r>
                  <a:rPr lang="it-IT" dirty="0" smtClean="0"/>
                  <a:t>una moltiplicazione</a:t>
                </a:r>
              </a:p>
              <a:p>
                <a:r>
                  <a:rPr lang="it-IT" dirty="0" smtClean="0"/>
                  <a:t>eseguita in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/>
                          </a:rPr>
                          <m:t>7.2 10</m:t>
                        </m:r>
                      </m:e>
                      <m:sup>
                        <m:r>
                          <a:rPr lang="it-IT" i="1">
                            <a:latin typeface="Cambria Math"/>
                          </a:rPr>
                          <m:t>−</m:t>
                        </m:r>
                        <m:r>
                          <a:rPr lang="it-IT" b="0" i="1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it-IT" dirty="0"/>
                  <a:t> </a:t>
                </a:r>
                <a:r>
                  <a:rPr lang="it-IT" dirty="0" smtClean="0"/>
                  <a:t>s</a:t>
                </a:r>
                <a:endParaRPr lang="it-IT" dirty="0"/>
              </a:p>
            </p:txBody>
          </p:sp>
        </mc:Choice>
        <mc:Fallback xmlns="">
          <p:sp>
            <p:nvSpPr>
              <p:cNvPr id="11" name="Rettango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4725144"/>
                <a:ext cx="2239716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2452" t="-3046" r="-1090" b="-65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4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Settori di applicazione</a:t>
            </a:r>
            <a:endParaRPr lang="it-IT" sz="2400" cap="none" dirty="0">
              <a:solidFill>
                <a:srgbClr val="C00000"/>
              </a:solidFill>
            </a:endParaRPr>
          </a:p>
        </p:txBody>
      </p:sp>
      <p:sp>
        <p:nvSpPr>
          <p:cNvPr id="21" name="Segnaposto contenuto 2"/>
          <p:cNvSpPr>
            <a:spLocks noGrp="1"/>
          </p:cNvSpPr>
          <p:nvPr>
            <p:ph idx="1"/>
          </p:nvPr>
        </p:nvSpPr>
        <p:spPr>
          <a:xfrm>
            <a:off x="395536" y="980728"/>
            <a:ext cx="7239000" cy="5400600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just"/>
            <a:r>
              <a:rPr lang="it-IT" sz="1800" dirty="0" smtClean="0"/>
              <a:t>Dinamica di diffusione dei virus</a:t>
            </a:r>
          </a:p>
          <a:p>
            <a:pPr marL="0" indent="0" algn="just">
              <a:buNone/>
            </a:pPr>
            <a:r>
              <a:rPr lang="it-IT" sz="1800" dirty="0" err="1">
                <a:hlinkClick r:id="rId2"/>
              </a:rPr>
              <a:t>Simulating</a:t>
            </a:r>
            <a:r>
              <a:rPr lang="it-IT" sz="1800" dirty="0">
                <a:hlinkClick r:id="rId2"/>
              </a:rPr>
              <a:t> an </a:t>
            </a:r>
            <a:r>
              <a:rPr lang="it-IT" sz="1800" dirty="0" err="1">
                <a:hlinkClick r:id="rId2"/>
              </a:rPr>
              <a:t>epidemic</a:t>
            </a:r>
            <a:r>
              <a:rPr lang="it-IT" sz="1800" dirty="0">
                <a:hlinkClick r:id="rId2"/>
              </a:rPr>
              <a:t> - </a:t>
            </a:r>
            <a:r>
              <a:rPr lang="it-IT" sz="1800" dirty="0" err="1">
                <a:hlinkClick r:id="rId2"/>
              </a:rPr>
              <a:t>YouTube</a:t>
            </a:r>
            <a:endParaRPr lang="it-IT" sz="1800" dirty="0"/>
          </a:p>
          <a:p>
            <a:pPr marL="0" indent="0" algn="just">
              <a:buNone/>
            </a:pPr>
            <a:endParaRPr lang="it-IT" sz="1800" dirty="0" smtClean="0"/>
          </a:p>
          <a:p>
            <a:pPr algn="just"/>
            <a:r>
              <a:rPr lang="it-IT" sz="1800" dirty="0"/>
              <a:t>Analisi </a:t>
            </a:r>
            <a:r>
              <a:rPr lang="it-IT" sz="1800" dirty="0" smtClean="0"/>
              <a:t>sismiche</a:t>
            </a:r>
          </a:p>
          <a:p>
            <a:pPr marL="0" indent="0" algn="just">
              <a:buNone/>
            </a:pPr>
            <a:r>
              <a:rPr lang="it-IT" sz="1800" dirty="0" smtClean="0">
                <a:solidFill>
                  <a:schemeClr val="tx2"/>
                </a:solidFill>
                <a:hlinkClick r:id="rId3"/>
              </a:rPr>
              <a:t>Interazione </a:t>
            </a:r>
            <a:r>
              <a:rPr lang="it-IT" sz="1800" dirty="0">
                <a:solidFill>
                  <a:schemeClr val="tx2"/>
                </a:solidFill>
                <a:hlinkClick r:id="rId3"/>
              </a:rPr>
              <a:t>suolo-struttura in caso di </a:t>
            </a:r>
            <a:r>
              <a:rPr lang="it-IT" sz="1800" dirty="0" smtClean="0">
                <a:solidFill>
                  <a:schemeClr val="tx2"/>
                </a:solidFill>
                <a:hlinkClick r:id="rId3"/>
              </a:rPr>
              <a:t>terremoto</a:t>
            </a:r>
            <a:endParaRPr lang="it-IT" sz="1800" dirty="0" smtClean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it-IT" sz="1800" dirty="0" smtClean="0">
                <a:solidFill>
                  <a:schemeClr val="tx2"/>
                </a:solidFill>
                <a:hlinkClick r:id="rId4"/>
              </a:rPr>
              <a:t>Simulazioni politecnico di Milano</a:t>
            </a:r>
            <a:endParaRPr lang="it-IT" sz="1800" dirty="0" smtClean="0">
              <a:solidFill>
                <a:schemeClr val="tx2"/>
              </a:solidFill>
            </a:endParaRPr>
          </a:p>
          <a:p>
            <a:pPr marL="0" indent="0" algn="just">
              <a:buNone/>
            </a:pPr>
            <a:endParaRPr lang="it-IT" sz="1800" dirty="0"/>
          </a:p>
          <a:p>
            <a:pPr algn="just"/>
            <a:r>
              <a:rPr lang="it-IT" sz="1800" dirty="0" smtClean="0"/>
              <a:t>Analisi del traffico (code, ingorghi)</a:t>
            </a:r>
          </a:p>
          <a:p>
            <a:pPr algn="just"/>
            <a:r>
              <a:rPr lang="it-IT" sz="1800" dirty="0" smtClean="0"/>
              <a:t>Cinema</a:t>
            </a:r>
            <a:r>
              <a:rPr lang="it-IT" sz="1800" dirty="0"/>
              <a:t>: animazione dei </a:t>
            </a:r>
            <a:r>
              <a:rPr lang="it-IT" sz="1800" dirty="0" smtClean="0"/>
              <a:t>cartoons</a:t>
            </a:r>
          </a:p>
          <a:p>
            <a:pPr algn="just"/>
            <a:r>
              <a:rPr lang="it-IT" sz="1800" dirty="0" smtClean="0"/>
              <a:t>Analisi finanziarie (high </a:t>
            </a:r>
            <a:r>
              <a:rPr lang="it-IT" sz="1800" dirty="0" err="1" smtClean="0"/>
              <a:t>frequency</a:t>
            </a:r>
            <a:r>
              <a:rPr lang="it-IT" sz="1800" dirty="0" smtClean="0"/>
              <a:t> </a:t>
            </a:r>
            <a:r>
              <a:rPr lang="it-IT" sz="1800" dirty="0" err="1" smtClean="0"/>
              <a:t>trade</a:t>
            </a:r>
            <a:r>
              <a:rPr lang="it-IT" sz="1800" dirty="0" smtClean="0"/>
              <a:t>)</a:t>
            </a:r>
          </a:p>
          <a:p>
            <a:pPr algn="just"/>
            <a:r>
              <a:rPr lang="it-IT" sz="1800" dirty="0" smtClean="0"/>
              <a:t>Analisi mediche (ricostruzione di immagini a fini diagnostici, fluido dinamica applicata al sistema cardiovascolare)</a:t>
            </a:r>
          </a:p>
          <a:p>
            <a:pPr marL="0" indent="0" algn="just">
              <a:buNone/>
            </a:pPr>
            <a:r>
              <a:rPr lang="it-IT" sz="1800" dirty="0" smtClean="0">
                <a:solidFill>
                  <a:schemeClr val="tx2"/>
                </a:solidFill>
                <a:hlinkClick r:id="rId5"/>
              </a:rPr>
              <a:t>Alessandro </a:t>
            </a:r>
            <a:r>
              <a:rPr lang="it-IT" sz="1800" dirty="0">
                <a:solidFill>
                  <a:schemeClr val="tx2"/>
                </a:solidFill>
                <a:hlinkClick r:id="rId5"/>
              </a:rPr>
              <a:t>Veneziani (</a:t>
            </a:r>
            <a:r>
              <a:rPr lang="it-IT" sz="1800" dirty="0" err="1">
                <a:solidFill>
                  <a:schemeClr val="tx2"/>
                </a:solidFill>
                <a:hlinkClick r:id="rId5"/>
              </a:rPr>
              <a:t>Emory</a:t>
            </a:r>
            <a:r>
              <a:rPr lang="it-IT" sz="1800" dirty="0">
                <a:solidFill>
                  <a:schemeClr val="tx2"/>
                </a:solidFill>
                <a:hlinkClick r:id="rId5"/>
              </a:rPr>
              <a:t>-Atlanta)</a:t>
            </a:r>
            <a:r>
              <a:rPr lang="it-IT" sz="1800" dirty="0">
                <a:solidFill>
                  <a:schemeClr val="tx2"/>
                </a:solidFill>
              </a:rPr>
              <a:t> (da 0:37 </a:t>
            </a:r>
            <a:r>
              <a:rPr lang="it-IT" sz="1800" dirty="0" smtClean="0">
                <a:solidFill>
                  <a:schemeClr val="tx2"/>
                </a:solidFill>
              </a:rPr>
              <a:t>a 3:10)</a:t>
            </a:r>
          </a:p>
          <a:p>
            <a:pPr marL="0" indent="0" algn="just">
              <a:buNone/>
            </a:pPr>
            <a:endParaRPr lang="it-IT" sz="1800" dirty="0" smtClean="0"/>
          </a:p>
          <a:p>
            <a:pPr marL="0" indent="0" algn="just">
              <a:buNone/>
            </a:pPr>
            <a:r>
              <a:rPr lang="it-IT" sz="1800" dirty="0" smtClean="0"/>
              <a:t>… problemi </a:t>
            </a:r>
            <a:r>
              <a:rPr lang="it-IT" sz="1800" dirty="0"/>
              <a:t>della fisica, della chimica, della biologia, </a:t>
            </a:r>
            <a:r>
              <a:rPr lang="it-IT" sz="1800" dirty="0" smtClean="0"/>
              <a:t>dell’ingegneria, della medicina, della geologia</a:t>
            </a:r>
          </a:p>
          <a:p>
            <a:pPr algn="just"/>
            <a:endParaRPr lang="it-IT" sz="1800" dirty="0"/>
          </a:p>
          <a:p>
            <a:pPr algn="just"/>
            <a:endParaRPr lang="it-IT" sz="1800" dirty="0"/>
          </a:p>
          <a:p>
            <a:pPr algn="just"/>
            <a:endParaRPr lang="it-IT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31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136304" y="2492896"/>
            <a:ext cx="5828184" cy="648072"/>
          </a:xfrm>
        </p:spPr>
        <p:txBody>
          <a:bodyPr>
            <a:normAutofit/>
          </a:bodyPr>
          <a:lstStyle/>
          <a:p>
            <a:pPr algn="ctr"/>
            <a:r>
              <a:rPr lang="it-IT" dirty="0" smtClean="0">
                <a:solidFill>
                  <a:srgbClr val="FFFF00"/>
                </a:solidFill>
              </a:rPr>
              <a:t>Radici </a:t>
            </a:r>
            <a:r>
              <a:rPr lang="it-IT" cap="none" dirty="0" smtClean="0">
                <a:solidFill>
                  <a:srgbClr val="FFFF00"/>
                </a:solidFill>
              </a:rPr>
              <a:t>di</a:t>
            </a:r>
            <a:r>
              <a:rPr lang="it-IT" dirty="0" smtClean="0">
                <a:solidFill>
                  <a:srgbClr val="FFFF00"/>
                </a:solidFill>
              </a:rPr>
              <a:t> equazioni</a:t>
            </a:r>
            <a:endParaRPr lang="it-IT" sz="3600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0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Teorema di </a:t>
            </a:r>
            <a:r>
              <a:rPr lang="it-IT" sz="2400" b="0" cap="none" dirty="0"/>
              <a:t>Esistenza </a:t>
            </a:r>
            <a:r>
              <a:rPr lang="it-IT" sz="2400" b="0" cap="none" dirty="0" smtClean="0"/>
              <a:t>degli </a:t>
            </a:r>
            <a:r>
              <a:rPr lang="it-IT" sz="2400" b="0" cap="none" dirty="0"/>
              <a:t>Z</a:t>
            </a:r>
            <a:r>
              <a:rPr lang="it-IT" sz="2400" b="0" cap="none" dirty="0" smtClean="0"/>
              <a:t>eri</a:t>
            </a:r>
            <a:endParaRPr lang="it-IT" sz="2400" cap="none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/>
              <p:cNvSpPr txBox="1">
                <a:spLocks noChangeArrowheads="1"/>
              </p:cNvSpPr>
              <p:nvPr/>
            </p:nvSpPr>
            <p:spPr bwMode="auto">
              <a:xfrm>
                <a:off x="107504" y="1268760"/>
                <a:ext cx="207188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it-IT" altLang="it-IT" sz="1600" dirty="0" smtClean="0"/>
                  <a:t>E la soluzione </a:t>
                </a:r>
                <a14:m>
                  <m:oMath xmlns:m="http://schemas.openxmlformats.org/officeDocument/2006/math">
                    <m:r>
                      <a:rPr lang="it-IT" altLang="it-IT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altLang="it-IT" sz="1600" dirty="0" smtClean="0"/>
                  <a:t> ?</a:t>
                </a:r>
                <a:endParaRPr lang="en-GB" altLang="it-IT" sz="1600" dirty="0"/>
              </a:p>
            </p:txBody>
          </p:sp>
        </mc:Choice>
        <mc:Fallback xmlns="">
          <p:sp>
            <p:nvSpPr>
              <p:cNvPr id="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1268760"/>
                <a:ext cx="2071886" cy="338554"/>
              </a:xfrm>
              <a:prstGeom prst="rect">
                <a:avLst/>
              </a:prstGeom>
              <a:blipFill rotWithShape="1">
                <a:blip r:embed="rId2"/>
                <a:stretch>
                  <a:fillRect l="-1765" t="-7143" b="-196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83890" y="4816727"/>
            <a:ext cx="20718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it-IT" dirty="0" smtClean="0">
                <a:solidFill>
                  <a:schemeClr val="accent5"/>
                </a:solidFill>
              </a:rPr>
              <a:t>Esempio</a:t>
            </a:r>
            <a:r>
              <a:rPr lang="it-IT" altLang="it-IT" dirty="0" smtClean="0"/>
              <a:t>:</a:t>
            </a:r>
            <a:endParaRPr lang="en-GB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/>
              <p:cNvSpPr txBox="1"/>
              <p:nvPr/>
            </p:nvSpPr>
            <p:spPr>
              <a:xfrm>
                <a:off x="1626820" y="4830068"/>
                <a:ext cx="8442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6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it-IT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it-IT" sz="16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6" name="CasellaDiTes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820" y="4830068"/>
                <a:ext cx="844205" cy="3385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794660" y="4845010"/>
            <a:ext cx="20718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it-IT" sz="1600" dirty="0" smtClean="0"/>
              <a:t>ha due soluzioni</a:t>
            </a:r>
            <a:endParaRPr lang="en-GB" altLang="it-IT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/>
              <p:cNvSpPr txBox="1"/>
              <p:nvPr/>
            </p:nvSpPr>
            <p:spPr>
              <a:xfrm>
                <a:off x="4629150" y="4797152"/>
                <a:ext cx="1159805" cy="367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t-IT" sz="1600" b="0" i="1" smtClean="0">
                          <a:latin typeface="Cambria Math"/>
                        </a:rPr>
                        <m:t>=− </m:t>
                      </m:r>
                      <m:rad>
                        <m:radPr>
                          <m:degHide m:val="on"/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8" name="CasellaDiTes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0" y="4797152"/>
                <a:ext cx="1159805" cy="36760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/>
              <p:cNvSpPr txBox="1"/>
              <p:nvPr/>
            </p:nvSpPr>
            <p:spPr>
              <a:xfrm>
                <a:off x="6071746" y="4797152"/>
                <a:ext cx="1164550" cy="367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it-IT" sz="1600" b="0" i="1" smtClean="0">
                          <a:latin typeface="Cambria Math"/>
                        </a:rPr>
                        <m:t>=+ </m:t>
                      </m:r>
                      <m:rad>
                        <m:radPr>
                          <m:degHide m:val="on"/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9" name="CasellaDiTes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746" y="4797152"/>
                <a:ext cx="1164550" cy="36760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tangolo 9"/>
          <p:cNvSpPr/>
          <p:nvPr/>
        </p:nvSpPr>
        <p:spPr>
          <a:xfrm>
            <a:off x="490404" y="5417382"/>
            <a:ext cx="6286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it-IT" sz="1600" dirty="0" err="1" smtClean="0"/>
              <a:t>ossia</a:t>
            </a:r>
            <a:endParaRPr lang="en-GB" altLang="it-IT" sz="1600" dirty="0"/>
          </a:p>
        </p:txBody>
      </p:sp>
      <p:sp>
        <p:nvSpPr>
          <p:cNvPr id="11" name="Freccia a destra 10"/>
          <p:cNvSpPr/>
          <p:nvPr/>
        </p:nvSpPr>
        <p:spPr>
          <a:xfrm>
            <a:off x="2195736" y="5345374"/>
            <a:ext cx="1152128" cy="5354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/>
          <p:cNvSpPr/>
          <p:nvPr/>
        </p:nvSpPr>
        <p:spPr>
          <a:xfrm>
            <a:off x="3923928" y="5345374"/>
            <a:ext cx="21954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latin typeface="+mj-lt"/>
                <a:ea typeface="+mj-ea"/>
                <a:cs typeface="+mj-cs"/>
              </a:rPr>
              <a:t>CALCOLATRICE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/>
              <p:cNvSpPr txBox="1"/>
              <p:nvPr/>
            </p:nvSpPr>
            <p:spPr>
              <a:xfrm>
                <a:off x="3635896" y="5826570"/>
                <a:ext cx="2814424" cy="367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it-IT" sz="16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it-IT" sz="1600" i="1">
                          <a:solidFill>
                            <a:schemeClr val="tx1"/>
                          </a:solidFill>
                          <a:latin typeface="Cambria Math"/>
                        </a:rPr>
                        <m:t>=1,414213562373095</m:t>
                      </m:r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asellaDiTes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826570"/>
                <a:ext cx="2814424" cy="36760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/>
              <p:cNvSpPr txBox="1"/>
              <p:nvPr/>
            </p:nvSpPr>
            <p:spPr>
              <a:xfrm>
                <a:off x="980110" y="620688"/>
                <a:ext cx="6248698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/>
                        </a:rPr>
                        <m:t>𝑓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∈</m:t>
                      </m:r>
                      <m:sSup>
                        <m:sSup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∁</m:t>
                          </m:r>
                        </m:e>
                        <m:sup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,   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d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&lt;0   ⇒    ∃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∈</m:t>
                      </m:r>
                      <m:d>
                        <m:d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: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10" y="620688"/>
                <a:ext cx="6248698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290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483890" y="1772816"/>
            <a:ext cx="20718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it-IT" dirty="0" smtClean="0">
                <a:solidFill>
                  <a:schemeClr val="accent5"/>
                </a:solidFill>
              </a:rPr>
              <a:t>Esempio</a:t>
            </a:r>
            <a:r>
              <a:rPr lang="it-IT" altLang="it-IT" dirty="0" smtClean="0"/>
              <a:t>:</a:t>
            </a:r>
            <a:endParaRPr lang="en-GB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tangolo 15"/>
              <p:cNvSpPr/>
              <p:nvPr/>
            </p:nvSpPr>
            <p:spPr>
              <a:xfrm>
                <a:off x="483890" y="2108839"/>
                <a:ext cx="7328470" cy="23111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600" dirty="0" smtClean="0"/>
                  <a:t>Supponiamo che una reazione chimica origini ad un certo istante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/>
                      </a:rPr>
                      <m:t>𝑡</m:t>
                    </m:r>
                    <m:r>
                      <a:rPr lang="it-IT" sz="16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it-IT" sz="1600" dirty="0" smtClean="0"/>
                  <a:t>una concentrazione </a:t>
                </a:r>
                <a:r>
                  <a:rPr lang="it-IT" sz="1600" dirty="0"/>
                  <a:t>di un particolare ione data dalla </a:t>
                </a:r>
                <a:r>
                  <a:rPr lang="it-IT" sz="1600" dirty="0" smtClean="0"/>
                  <a:t>legge</a:t>
                </a:r>
              </a:p>
              <a:p>
                <a:pPr algn="just"/>
                <a:endParaRPr lang="it-IT" sz="160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it-IT" sz="1600" b="0" i="1" smtClean="0">
                          <a:latin typeface="Cambria Math"/>
                        </a:rPr>
                        <m:t>=7</m:t>
                      </m:r>
                      <m:sSup>
                        <m:sSup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16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it-IT" sz="1600" b="0" i="1" smtClean="0">
                              <a:latin typeface="Cambria Math"/>
                            </a:rPr>
                            <m:t>−5</m:t>
                          </m:r>
                          <m:r>
                            <a:rPr lang="it-IT" sz="1600" b="0" i="1" smtClean="0">
                              <a:latin typeface="Cambria Math"/>
                            </a:rPr>
                            <m:t>𝑡</m:t>
                          </m:r>
                        </m:sup>
                      </m:sSup>
                      <m:r>
                        <a:rPr lang="it-IT" sz="1600" b="0" i="1" smtClean="0">
                          <a:latin typeface="Cambria Math"/>
                        </a:rPr>
                        <m:t>+3</m:t>
                      </m:r>
                      <m:sSup>
                        <m:sSupPr>
                          <m:ctrlPr>
                            <a:rPr lang="it-IT" sz="16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it-IT" sz="16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it-IT" sz="1600" i="1">
                              <a:latin typeface="Cambria Math"/>
                            </a:rPr>
                            <m:t>−</m:t>
                          </m:r>
                          <m:r>
                            <a:rPr lang="it-IT" sz="1600" b="0" i="1" smtClean="0">
                              <a:latin typeface="Cambria Math"/>
                            </a:rPr>
                            <m:t>2</m:t>
                          </m:r>
                          <m:r>
                            <a:rPr lang="it-IT" sz="1600" i="1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it-IT" sz="1600" dirty="0" smtClean="0"/>
              </a:p>
              <a:p>
                <a:pPr algn="ctr"/>
                <a:endParaRPr lang="it-IT" sz="1600" dirty="0"/>
              </a:p>
              <a:p>
                <a:pPr algn="just"/>
                <a:r>
                  <a:rPr lang="it-IT" sz="1600" dirty="0"/>
                  <a:t>All’istante iniziale la concentrazione </a:t>
                </a:r>
                <a:r>
                  <a:rPr lang="it-IT" sz="1600" dirty="0" smtClean="0"/>
                  <a:t>sarà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it-IT" sz="1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sz="1600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it-IT" sz="1600" b="0" i="1" smtClean="0">
                        <a:latin typeface="Cambria Math"/>
                      </a:rPr>
                      <m:t>=10</m:t>
                    </m:r>
                  </m:oMath>
                </a14:m>
                <a:r>
                  <a:rPr lang="it-IT" sz="1600" dirty="0"/>
                  <a:t>. Ci chiediamo a </a:t>
                </a:r>
                <a:r>
                  <a:rPr lang="it-IT" sz="1600" dirty="0" smtClean="0"/>
                  <a:t>quale istante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it-IT" sz="16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dirty="0" smtClean="0"/>
                  <a:t>la </a:t>
                </a:r>
                <a:r>
                  <a:rPr lang="it-IT" sz="1600" dirty="0"/>
                  <a:t>concentrazione si </a:t>
                </a:r>
                <a:r>
                  <a:rPr lang="it-IT" sz="1600" dirty="0" smtClean="0"/>
                  <a:t>sarà </a:t>
                </a:r>
                <a:r>
                  <a:rPr lang="it-IT" sz="1600" dirty="0"/>
                  <a:t>dimezzata, </a:t>
                </a:r>
                <a:r>
                  <a:rPr lang="it-IT" sz="1600" dirty="0" smtClean="0"/>
                  <a:t>ossia</a:t>
                </a:r>
              </a:p>
              <a:p>
                <a:pPr algn="just"/>
                <a:endParaRPr lang="it-IT" sz="160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it-IT" sz="16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sz="16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it-IT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it-IT" sz="1600" b="0" i="1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it-IT" sz="1600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6" name="Rettango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90" y="2108839"/>
                <a:ext cx="7328470" cy="2311146"/>
              </a:xfrm>
              <a:prstGeom prst="rect">
                <a:avLst/>
              </a:prstGeom>
              <a:blipFill rotWithShape="1">
                <a:blip r:embed="rId8"/>
                <a:stretch>
                  <a:fillRect l="-416" t="-1055" r="-4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tangolo 17"/>
          <p:cNvSpPr/>
          <p:nvPr/>
        </p:nvSpPr>
        <p:spPr>
          <a:xfrm>
            <a:off x="1074861" y="5096173"/>
            <a:ext cx="4667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</a:rPr>
              <a:t>?</a:t>
            </a:r>
            <a:endParaRPr lang="it-IT" sz="6000" dirty="0">
              <a:ln w="500">
                <a:solidFill>
                  <a:schemeClr val="tx2">
                    <a:shade val="20000"/>
                    <a:satMod val="120000"/>
                  </a:schemeClr>
                </a:solidFill>
              </a:ln>
              <a:gradFill>
                <a:gsLst>
                  <a:gs pos="0">
                    <a:schemeClr val="accent4">
                      <a:tint val="13000"/>
                    </a:schemeClr>
                  </a:gs>
                  <a:gs pos="10000">
                    <a:schemeClr val="accent4">
                      <a:tint val="20000"/>
                    </a:schemeClr>
                  </a:gs>
                  <a:gs pos="49000">
                    <a:schemeClr val="accent4">
                      <a:tint val="70000"/>
                    </a:schemeClr>
                  </a:gs>
                  <a:gs pos="50000">
                    <a:schemeClr val="accent4">
                      <a:tint val="97000"/>
                    </a:schemeClr>
                  </a:gs>
                  <a:gs pos="100000">
                    <a:schemeClr val="accent4">
                      <a:tint val="2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72382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olo 2"/>
              <p:cNvSpPr>
                <a:spLocks noGrp="1"/>
              </p:cNvSpPr>
              <p:nvPr>
                <p:ph type="title"/>
              </p:nvPr>
            </p:nvSpPr>
            <p:spPr>
              <a:xfrm>
                <a:off x="846956" y="188640"/>
                <a:ext cx="6821388" cy="410304"/>
              </a:xfrm>
            </p:spPr>
            <p:txBody>
              <a:bodyPr>
                <a:normAutofit/>
              </a:bodyPr>
              <a:lstStyle/>
              <a:p>
                <a:r>
                  <a:rPr lang="it-IT" sz="2400" dirty="0" smtClean="0"/>
                  <a:t>Come fa la calcolatrice a calcolare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t-IT" sz="240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it-IT" sz="2400" b="1" i="1" smtClean="0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r>
                  <a:rPr lang="it-IT" sz="2400" dirty="0" smtClean="0"/>
                  <a:t> ?</a:t>
                </a:r>
                <a:endParaRPr lang="it-IT" sz="2400" dirty="0"/>
              </a:p>
            </p:txBody>
          </p:sp>
        </mc:Choice>
        <mc:Fallback xmlns="">
          <p:sp>
            <p:nvSpPr>
              <p:cNvPr id="3" name="Titol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6956" y="188640"/>
                <a:ext cx="6821388" cy="410304"/>
              </a:xfrm>
              <a:blipFill rotWithShape="1">
                <a:blip r:embed="rId2"/>
                <a:stretch>
                  <a:fillRect l="-2055" t="-13433" b="-447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411760" y="1004535"/>
            <a:ext cx="358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it-IT" altLang="it-IT" dirty="0"/>
              <a:t>m</a:t>
            </a:r>
            <a:r>
              <a:rPr lang="it-IT" altLang="it-IT" dirty="0" smtClean="0"/>
              <a:t>etodo </a:t>
            </a:r>
            <a:r>
              <a:rPr lang="it-IT" altLang="it-IT" dirty="0"/>
              <a:t>di bisezione</a:t>
            </a:r>
          </a:p>
          <a:p>
            <a:pPr algn="ctr"/>
            <a:r>
              <a:rPr lang="it-IT" altLang="it-IT" dirty="0"/>
              <a:t>m</a:t>
            </a:r>
            <a:r>
              <a:rPr lang="it-IT" altLang="it-IT" dirty="0" smtClean="0"/>
              <a:t>etodo </a:t>
            </a:r>
            <a:r>
              <a:rPr lang="it-IT" altLang="it-IT" dirty="0"/>
              <a:t>di Newton</a:t>
            </a:r>
          </a:p>
          <a:p>
            <a:pPr algn="ctr"/>
            <a:r>
              <a:rPr lang="it-IT" altLang="it-IT" dirty="0"/>
              <a:t>m</a:t>
            </a:r>
            <a:r>
              <a:rPr lang="it-IT" altLang="it-IT" dirty="0" smtClean="0"/>
              <a:t>etodi </a:t>
            </a:r>
            <a:r>
              <a:rPr lang="it-IT" altLang="it-IT" dirty="0"/>
              <a:t>delle </a:t>
            </a:r>
            <a:r>
              <a:rPr lang="it-IT" altLang="it-IT" dirty="0" smtClean="0"/>
              <a:t>secanti</a:t>
            </a:r>
          </a:p>
          <a:p>
            <a:pPr algn="ctr"/>
            <a:r>
              <a:rPr lang="it-IT" altLang="it-IT" dirty="0" smtClean="0"/>
              <a:t>…</a:t>
            </a:r>
            <a:endParaRPr lang="en-GB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3506040" y="3068960"/>
                <a:ext cx="1403140" cy="4530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/>
                        </a:rPr>
                        <m:t>𝑥</m:t>
                      </m:r>
                      <m:r>
                        <a:rPr lang="it-I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it-IT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040" y="3068960"/>
                <a:ext cx="1403140" cy="453009"/>
              </a:xfrm>
              <a:prstGeom prst="rect">
                <a:avLst/>
              </a:prstGeom>
              <a:blipFill rotWithShape="1"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/>
              <p:cNvSpPr txBox="1"/>
              <p:nvPr/>
            </p:nvSpPr>
            <p:spPr>
              <a:xfrm>
                <a:off x="3728200" y="4581128"/>
                <a:ext cx="924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/>
                        </a:rPr>
                        <m:t>𝑥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≈</m:t>
                      </m:r>
                      <m:sSub>
                        <m:sSub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9" name="CasellaDiTesto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200" y="4581128"/>
                <a:ext cx="92480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4184325" y="5229200"/>
            <a:ext cx="0" cy="662548"/>
          </a:xfrm>
          <a:prstGeom prst="line">
            <a:avLst/>
          </a:prstGeom>
          <a:noFill/>
          <a:ln w="28575">
            <a:solidFill>
              <a:schemeClr val="accent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/>
              <p:cNvSpPr txBox="1"/>
              <p:nvPr/>
            </p:nvSpPr>
            <p:spPr>
              <a:xfrm>
                <a:off x="3665684" y="6093296"/>
                <a:ext cx="1049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/>
                        </a:rPr>
                        <m:t>|</m:t>
                      </m:r>
                      <m:r>
                        <a:rPr lang="it-IT" b="0" i="1" smtClean="0">
                          <a:latin typeface="Cambria Math"/>
                        </a:rPr>
                        <m:t>𝑥</m:t>
                      </m:r>
                      <m:r>
                        <a:rPr lang="it-IT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|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2" name="CasellaDiTesto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684" y="6093296"/>
                <a:ext cx="1049839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/>
          <p:cNvSpPr txBox="1"/>
          <p:nvPr/>
        </p:nvSpPr>
        <p:spPr>
          <a:xfrm>
            <a:off x="1489816" y="6093296"/>
            <a:ext cx="1938351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</a:t>
            </a:r>
            <a:r>
              <a:rPr lang="it-IT" dirty="0" smtClean="0">
                <a:solidFill>
                  <a:schemeClr val="bg1"/>
                </a:solidFill>
              </a:rPr>
              <a:t>tima dell’errore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7" name="Line 15"/>
          <p:cNvSpPr>
            <a:spLocks noChangeShapeType="1"/>
          </p:cNvSpPr>
          <p:nvPr/>
        </p:nvSpPr>
        <p:spPr bwMode="auto">
          <a:xfrm>
            <a:off x="4191830" y="3717032"/>
            <a:ext cx="0" cy="662548"/>
          </a:xfrm>
          <a:prstGeom prst="line">
            <a:avLst/>
          </a:prstGeom>
          <a:noFill/>
          <a:ln w="28575">
            <a:solidFill>
              <a:schemeClr val="accent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8" name="Line 15"/>
          <p:cNvSpPr>
            <a:spLocks noChangeShapeType="1"/>
          </p:cNvSpPr>
          <p:nvPr/>
        </p:nvSpPr>
        <p:spPr bwMode="auto">
          <a:xfrm>
            <a:off x="4191830" y="2276872"/>
            <a:ext cx="0" cy="662548"/>
          </a:xfrm>
          <a:prstGeom prst="line">
            <a:avLst/>
          </a:prstGeom>
          <a:noFill/>
          <a:ln w="28575">
            <a:solidFill>
              <a:schemeClr val="accent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12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/>
          <p:cNvSpPr/>
          <p:nvPr/>
        </p:nvSpPr>
        <p:spPr>
          <a:xfrm>
            <a:off x="2681928" y="4126220"/>
            <a:ext cx="427052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99792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1320210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1907704" y="1268760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Metodo di </a:t>
            </a:r>
            <a:r>
              <a:rPr lang="it-IT" sz="2400" b="0" cap="none" dirty="0" smtClean="0">
                <a:solidFill>
                  <a:schemeClr val="accent5"/>
                </a:solidFill>
              </a:rPr>
              <a:t>Bisezione</a:t>
            </a:r>
            <a:endParaRPr lang="it-IT" sz="2400" cap="none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1&lt;</m:t>
                      </m:r>
                      <m:rad>
                        <m:radPr>
                          <m:degHide m:val="on"/>
                          <m:ctrlPr>
                            <a:rPr lang="it-IT" sz="16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/>
              <p:cNvSpPr txBox="1">
                <a:spLocks noChangeArrowheads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879475"/>
                <a:r>
                  <a:rPr lang="it-IT" altLang="it-IT" dirty="0" smtClean="0"/>
                  <a:t>Definiamo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it-IT" altLang="it-IT" b="0" dirty="0" smtClean="0">
                  <a:solidFill>
                    <a:schemeClr val="tx2"/>
                  </a:solidFill>
                </a:endParaRPr>
              </a:p>
              <a:p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=−1</m:t>
                    </m:r>
                  </m:oMath>
                </a14:m>
                <a:r>
                  <a:rPr lang="en-GB" altLang="it-IT" dirty="0" smtClean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=2</m:t>
                    </m:r>
                  </m:oMath>
                </a14:m>
                <a:endParaRPr lang="it-IT" altLang="it-IT" b="0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 smtClean="0"/>
                  <a:t>Dal </a:t>
                </a:r>
                <a:r>
                  <a:rPr lang="en-GB" altLang="it-IT" dirty="0" err="1" smtClean="0"/>
                  <a:t>teorema</a:t>
                </a:r>
                <a:r>
                  <a:rPr lang="en-GB" altLang="it-IT" dirty="0" smtClean="0"/>
                  <a:t> di </a:t>
                </a:r>
                <a:r>
                  <a:rPr lang="en-GB" altLang="it-IT" dirty="0" err="1" smtClean="0"/>
                  <a:t>esistenza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degli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zeri</a:t>
                </a:r>
                <a:r>
                  <a:rPr lang="en-GB" altLang="it-IT" dirty="0" smtClean="0"/>
                  <a:t>, </a:t>
                </a:r>
                <a:r>
                  <a:rPr lang="en-GB" altLang="it-IT" dirty="0" err="1" smtClean="0"/>
                  <a:t>esiste</a:t>
                </a: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 algn="ctr">
                  <a:tabLst>
                    <a:tab pos="1793875" algn="l"/>
                    <a:tab pos="36798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it-IT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altLang="it-IT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altLang="it-IT" b="0" i="1" smtClean="0">
                            <a:latin typeface="Cambria Math"/>
                          </a:rPr>
                          <m:t>∗</m:t>
                        </m:r>
                      </m:sub>
                    </m:sSub>
                    <m:r>
                      <a:rPr lang="en-GB" altLang="it-IT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altLang="it-IT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altLang="it-IT" i="1" dirty="0" smtClean="0">
                            <a:latin typeface="Cambria Math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GB" altLang="it-IT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it-IT" altLang="it-IT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altLang="it-IT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it-IT" altLang="it-IT" b="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altLang="it-IT" b="0" i="1" dirty="0" smtClean="0">
                                <a:latin typeface="Cambria Math"/>
                              </a:rPr>
                              <m:t>∗</m:t>
                            </m:r>
                          </m:sub>
                        </m:sSub>
                      </m:e>
                      <m:sub/>
                      <m:sup>
                        <m:r>
                          <a:rPr lang="it-IT" altLang="it-IT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it-IT" altLang="it-IT" b="0" i="1" dirty="0" smtClean="0">
                        <a:latin typeface="Cambria Math"/>
                      </a:rPr>
                      <m:t>−2=0</m:t>
                    </m:r>
                  </m:oMath>
                </a14:m>
                <a:endParaRPr lang="en-GB" altLang="it-IT" dirty="0"/>
              </a:p>
            </p:txBody>
          </p:sp>
        </mc:Choice>
        <mc:Fallback xmlns="">
          <p:sp>
            <p:nvSpPr>
              <p:cNvPr id="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blipFill rotWithShape="1">
                <a:blip r:embed="rId3"/>
                <a:stretch>
                  <a:fillRect l="-728" t="-1739" b="-17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323528" y="3717032"/>
                <a:ext cx="7344816" cy="83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/>
                </a:pP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it-IT" b="1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.5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.25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17032"/>
                <a:ext cx="7344816" cy="837409"/>
              </a:xfrm>
              <a:prstGeom prst="rect">
                <a:avLst/>
              </a:prstGeom>
              <a:blipFill rotWithShape="1">
                <a:blip r:embed="rId4"/>
                <a:stretch>
                  <a:fillRect l="-581" t="-2920" b="-7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52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/>
          <p:cNvSpPr/>
          <p:nvPr/>
        </p:nvSpPr>
        <p:spPr>
          <a:xfrm>
            <a:off x="2681928" y="4126220"/>
            <a:ext cx="427052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99792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1320210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1907704" y="1268760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Metodo di </a:t>
            </a:r>
            <a:r>
              <a:rPr lang="it-IT" sz="2400" b="0" cap="none" dirty="0" smtClean="0">
                <a:solidFill>
                  <a:schemeClr val="accent5"/>
                </a:solidFill>
              </a:rPr>
              <a:t>Bisezione</a:t>
            </a:r>
            <a:endParaRPr lang="it-IT" sz="2400" cap="none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1&lt;</m:t>
                      </m:r>
                      <m:rad>
                        <m:radPr>
                          <m:degHide m:val="on"/>
                          <m:ctrlPr>
                            <a:rPr lang="it-IT" sz="16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/>
              <p:cNvSpPr txBox="1">
                <a:spLocks noChangeArrowheads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879475"/>
                <a:r>
                  <a:rPr lang="it-IT" altLang="it-IT" dirty="0" smtClean="0"/>
                  <a:t>Definiamo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it-IT" altLang="it-IT" b="0" dirty="0" smtClean="0">
                  <a:solidFill>
                    <a:schemeClr val="tx2"/>
                  </a:solidFill>
                </a:endParaRPr>
              </a:p>
              <a:p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=−1</m:t>
                    </m:r>
                  </m:oMath>
                </a14:m>
                <a:r>
                  <a:rPr lang="en-GB" altLang="it-IT" dirty="0" smtClean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=2</m:t>
                    </m:r>
                  </m:oMath>
                </a14:m>
                <a:endParaRPr lang="it-IT" altLang="it-IT" b="0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 smtClean="0"/>
                  <a:t>Dal </a:t>
                </a:r>
                <a:r>
                  <a:rPr lang="en-GB" altLang="it-IT" dirty="0" err="1" smtClean="0"/>
                  <a:t>teorema</a:t>
                </a:r>
                <a:r>
                  <a:rPr lang="en-GB" altLang="it-IT" dirty="0" smtClean="0"/>
                  <a:t> di </a:t>
                </a:r>
                <a:r>
                  <a:rPr lang="en-GB" altLang="it-IT" dirty="0" err="1" smtClean="0"/>
                  <a:t>esistenza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degli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zeri</a:t>
                </a:r>
                <a:r>
                  <a:rPr lang="en-GB" altLang="it-IT" dirty="0" smtClean="0"/>
                  <a:t>, </a:t>
                </a:r>
                <a:r>
                  <a:rPr lang="en-GB" altLang="it-IT" dirty="0" err="1" smtClean="0"/>
                  <a:t>esiste</a:t>
                </a: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 algn="ctr">
                  <a:tabLst>
                    <a:tab pos="1793875" algn="l"/>
                    <a:tab pos="36798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it-IT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altLang="it-IT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altLang="it-IT" b="0" i="1" smtClean="0">
                            <a:latin typeface="Cambria Math"/>
                          </a:rPr>
                          <m:t>∗</m:t>
                        </m:r>
                      </m:sub>
                    </m:sSub>
                    <m:r>
                      <a:rPr lang="en-GB" altLang="it-IT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altLang="it-IT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altLang="it-IT" i="1" dirty="0" smtClean="0">
                            <a:latin typeface="Cambria Math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GB" altLang="it-IT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it-IT" altLang="it-IT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altLang="it-IT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it-IT" altLang="it-IT" b="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altLang="it-IT" b="0" i="1" dirty="0" smtClean="0">
                                <a:latin typeface="Cambria Math"/>
                              </a:rPr>
                              <m:t>∗</m:t>
                            </m:r>
                          </m:sub>
                        </m:sSub>
                      </m:e>
                      <m:sub/>
                      <m:sup>
                        <m:r>
                          <a:rPr lang="it-IT" altLang="it-IT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it-IT" altLang="it-IT" b="0" i="1" dirty="0" smtClean="0">
                        <a:latin typeface="Cambria Math"/>
                      </a:rPr>
                      <m:t>−2=0</m:t>
                    </m:r>
                  </m:oMath>
                </a14:m>
                <a:endParaRPr lang="en-GB" altLang="it-IT" dirty="0"/>
              </a:p>
            </p:txBody>
          </p:sp>
        </mc:Choice>
        <mc:Fallback xmlns="">
          <p:sp>
            <p:nvSpPr>
              <p:cNvPr id="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blipFill rotWithShape="1">
                <a:blip r:embed="rId3"/>
                <a:stretch>
                  <a:fillRect l="-728" t="-1739" b="-17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323528" y="3717032"/>
                <a:ext cx="7344816" cy="14683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/>
                </a:pP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it-IT" b="1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.5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.25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2"/>
                </a:pP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=[1,1.5]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17032"/>
                <a:ext cx="7344816" cy="1468351"/>
              </a:xfrm>
              <a:prstGeom prst="rect">
                <a:avLst/>
              </a:prstGeom>
              <a:blipFill rotWithShape="1">
                <a:blip r:embed="rId4"/>
                <a:stretch>
                  <a:fillRect l="-581" t="-1660" b="-37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6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e 10"/>
          <p:cNvSpPr/>
          <p:nvPr/>
        </p:nvSpPr>
        <p:spPr>
          <a:xfrm>
            <a:off x="2636228" y="5234755"/>
            <a:ext cx="639628" cy="3638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/>
          <p:cNvSpPr/>
          <p:nvPr/>
        </p:nvSpPr>
        <p:spPr>
          <a:xfrm>
            <a:off x="2681928" y="4126220"/>
            <a:ext cx="427052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99792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1320210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1907704" y="1268760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Metodo di </a:t>
            </a:r>
            <a:r>
              <a:rPr lang="it-IT" sz="2400" b="0" cap="none" dirty="0" smtClean="0">
                <a:solidFill>
                  <a:schemeClr val="accent5"/>
                </a:solidFill>
              </a:rPr>
              <a:t>Bisezione</a:t>
            </a:r>
            <a:endParaRPr lang="it-IT" sz="2400" cap="none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1&lt;</m:t>
                      </m:r>
                      <m:rad>
                        <m:radPr>
                          <m:degHide m:val="on"/>
                          <m:ctrlPr>
                            <a:rPr lang="it-IT" sz="16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/>
              <p:cNvSpPr txBox="1">
                <a:spLocks noChangeArrowheads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879475"/>
                <a:r>
                  <a:rPr lang="it-IT" altLang="it-IT" dirty="0" smtClean="0"/>
                  <a:t>Definiamo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it-IT" altLang="it-IT" b="0" dirty="0" smtClean="0">
                  <a:solidFill>
                    <a:schemeClr val="tx2"/>
                  </a:solidFill>
                </a:endParaRPr>
              </a:p>
              <a:p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=−1</m:t>
                    </m:r>
                  </m:oMath>
                </a14:m>
                <a:r>
                  <a:rPr lang="en-GB" altLang="it-IT" dirty="0" smtClean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=2</m:t>
                    </m:r>
                  </m:oMath>
                </a14:m>
                <a:endParaRPr lang="it-IT" altLang="it-IT" b="0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 smtClean="0"/>
                  <a:t>Dal </a:t>
                </a:r>
                <a:r>
                  <a:rPr lang="en-GB" altLang="it-IT" dirty="0" err="1" smtClean="0"/>
                  <a:t>teorema</a:t>
                </a:r>
                <a:r>
                  <a:rPr lang="en-GB" altLang="it-IT" dirty="0" smtClean="0"/>
                  <a:t> di </a:t>
                </a:r>
                <a:r>
                  <a:rPr lang="en-GB" altLang="it-IT" dirty="0" err="1" smtClean="0"/>
                  <a:t>esistenza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degli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zeri</a:t>
                </a:r>
                <a:r>
                  <a:rPr lang="en-GB" altLang="it-IT" dirty="0" smtClean="0"/>
                  <a:t>, </a:t>
                </a:r>
                <a:r>
                  <a:rPr lang="en-GB" altLang="it-IT" dirty="0" err="1" smtClean="0"/>
                  <a:t>esiste</a:t>
                </a: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 algn="ctr">
                  <a:tabLst>
                    <a:tab pos="1793875" algn="l"/>
                    <a:tab pos="36798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it-IT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altLang="it-IT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altLang="it-IT" b="0" i="1" smtClean="0">
                            <a:latin typeface="Cambria Math"/>
                          </a:rPr>
                          <m:t>∗</m:t>
                        </m:r>
                      </m:sub>
                    </m:sSub>
                    <m:r>
                      <a:rPr lang="en-GB" altLang="it-IT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altLang="it-IT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altLang="it-IT" i="1" dirty="0" smtClean="0">
                            <a:latin typeface="Cambria Math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GB" altLang="it-IT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it-IT" altLang="it-IT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altLang="it-IT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it-IT" altLang="it-IT" b="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altLang="it-IT" b="0" i="1" dirty="0" smtClean="0">
                                <a:latin typeface="Cambria Math"/>
                              </a:rPr>
                              <m:t>∗</m:t>
                            </m:r>
                          </m:sub>
                        </m:sSub>
                      </m:e>
                      <m:sub/>
                      <m:sup>
                        <m:r>
                          <a:rPr lang="it-IT" altLang="it-IT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it-IT" altLang="it-IT" b="0" i="1" dirty="0" smtClean="0">
                        <a:latin typeface="Cambria Math"/>
                      </a:rPr>
                      <m:t>−2=0</m:t>
                    </m:r>
                  </m:oMath>
                </a14:m>
                <a:endParaRPr lang="en-GB" altLang="it-IT" dirty="0"/>
              </a:p>
            </p:txBody>
          </p:sp>
        </mc:Choice>
        <mc:Fallback xmlns="">
          <p:sp>
            <p:nvSpPr>
              <p:cNvPr id="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blipFill rotWithShape="1">
                <a:blip r:embed="rId3"/>
                <a:stretch>
                  <a:fillRect l="-728" t="-1739" b="-17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323528" y="3717032"/>
                <a:ext cx="7344816" cy="1936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/>
                </a:pP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it-IT" b="1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.5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.25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2"/>
                </a:pP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=[1,1.5]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1.</m:t>
                        </m:r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−0.4375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17032"/>
                <a:ext cx="7344816" cy="1936428"/>
              </a:xfrm>
              <a:prstGeom prst="rect">
                <a:avLst/>
              </a:prstGeom>
              <a:blipFill rotWithShape="1">
                <a:blip r:embed="rId4"/>
                <a:stretch>
                  <a:fillRect l="-581" t="-12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31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e 11"/>
          <p:cNvSpPr/>
          <p:nvPr/>
        </p:nvSpPr>
        <p:spPr>
          <a:xfrm>
            <a:off x="2647658" y="6309320"/>
            <a:ext cx="77221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/>
          <p:cNvSpPr/>
          <p:nvPr/>
        </p:nvSpPr>
        <p:spPr>
          <a:xfrm>
            <a:off x="2636228" y="5234755"/>
            <a:ext cx="639628" cy="3638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/>
          <p:cNvSpPr/>
          <p:nvPr/>
        </p:nvSpPr>
        <p:spPr>
          <a:xfrm>
            <a:off x="2681928" y="4126220"/>
            <a:ext cx="427052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99792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1320210" y="3717032"/>
            <a:ext cx="216024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1907704" y="1268760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7848872" cy="372656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it-IT" sz="2400" b="0" cap="none" dirty="0" smtClean="0"/>
              <a:t> Metodo di </a:t>
            </a:r>
            <a:r>
              <a:rPr lang="it-IT" sz="2400" b="0" cap="none" dirty="0" smtClean="0">
                <a:solidFill>
                  <a:schemeClr val="accent5"/>
                </a:solidFill>
              </a:rPr>
              <a:t>Bisezione</a:t>
            </a:r>
            <a:endParaRPr lang="it-IT" sz="2400" cap="none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/>
              <p:cNvSpPr txBox="1"/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1&lt;</m:t>
                      </m:r>
                      <m:rad>
                        <m:radPr>
                          <m:degHide m:val="on"/>
                          <m:ctrlPr>
                            <a:rPr lang="it-IT" sz="16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it-IT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it-IT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&lt;2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764704"/>
                <a:ext cx="1259191" cy="36760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/>
              <p:cNvSpPr txBox="1">
                <a:spLocks noChangeArrowheads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879475"/>
                <a:r>
                  <a:rPr lang="it-IT" altLang="it-IT" dirty="0" smtClean="0"/>
                  <a:t>Definiamo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it-IT" altLang="it-IT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altLang="it-IT" b="0" i="1" smtClean="0">
                        <a:solidFill>
                          <a:schemeClr val="bg1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it-IT" altLang="it-IT" b="0" dirty="0" smtClean="0">
                  <a:solidFill>
                    <a:schemeClr val="tx2"/>
                  </a:solidFill>
                </a:endParaRPr>
              </a:p>
              <a:p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=−1</m:t>
                    </m:r>
                  </m:oMath>
                </a14:m>
                <a:r>
                  <a:rPr lang="en-GB" altLang="it-IT" dirty="0" smtClean="0"/>
                  <a:t>	</a:t>
                </a:r>
                <a14:m>
                  <m:oMath xmlns:m="http://schemas.openxmlformats.org/officeDocument/2006/math">
                    <m:r>
                      <a:rPr lang="it-IT" altLang="it-I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</a:rPr>
                      <m:t>=2</m:t>
                    </m:r>
                  </m:oMath>
                </a14:m>
                <a:endParaRPr lang="it-IT" altLang="it-IT" b="0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r>
                  <a:rPr lang="en-GB" altLang="it-IT" dirty="0" smtClean="0"/>
                  <a:t>Dal </a:t>
                </a:r>
                <a:r>
                  <a:rPr lang="en-GB" altLang="it-IT" dirty="0" err="1" smtClean="0"/>
                  <a:t>teorema</a:t>
                </a:r>
                <a:r>
                  <a:rPr lang="en-GB" altLang="it-IT" dirty="0" smtClean="0"/>
                  <a:t> di </a:t>
                </a:r>
                <a:r>
                  <a:rPr lang="en-GB" altLang="it-IT" dirty="0" err="1" smtClean="0"/>
                  <a:t>esistenza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degli</a:t>
                </a:r>
                <a:r>
                  <a:rPr lang="en-GB" altLang="it-IT" dirty="0" smtClean="0"/>
                  <a:t> </a:t>
                </a:r>
                <a:r>
                  <a:rPr lang="en-GB" altLang="it-IT" dirty="0" err="1" smtClean="0"/>
                  <a:t>zeri</a:t>
                </a:r>
                <a:r>
                  <a:rPr lang="en-GB" altLang="it-IT" dirty="0" smtClean="0"/>
                  <a:t>, </a:t>
                </a:r>
                <a:r>
                  <a:rPr lang="en-GB" altLang="it-IT" dirty="0" err="1" smtClean="0"/>
                  <a:t>esiste</a:t>
                </a:r>
                <a:endParaRPr lang="en-GB" altLang="it-IT" dirty="0" smtClean="0"/>
              </a:p>
              <a:p>
                <a:pPr>
                  <a:tabLst>
                    <a:tab pos="1793875" algn="l"/>
                    <a:tab pos="3679825" algn="l"/>
                  </a:tabLst>
                </a:pPr>
                <a:endParaRPr lang="en-GB" altLang="it-IT" dirty="0" smtClean="0"/>
              </a:p>
              <a:p>
                <a:pPr algn="ctr">
                  <a:tabLst>
                    <a:tab pos="1793875" algn="l"/>
                    <a:tab pos="36798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it-IT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it-IT" altLang="it-IT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altLang="it-IT" b="0" i="1" smtClean="0">
                            <a:latin typeface="Cambria Math"/>
                          </a:rPr>
                          <m:t>∗</m:t>
                        </m:r>
                      </m:sub>
                    </m:sSub>
                    <m:r>
                      <a:rPr lang="en-GB" altLang="it-IT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it-IT" altLang="it-IT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it-IT" altLang="it-IT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it-IT" altLang="it-IT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altLang="it-IT" dirty="0" smtClean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altLang="it-IT" i="1" dirty="0" smtClean="0">
                            <a:latin typeface="Cambria Math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GB" altLang="it-IT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it-IT" altLang="it-IT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altLang="it-IT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altLang="it-IT" b="0" i="1" dirty="0" smtClean="0">
                                        <a:latin typeface="Cambria Math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it-IT" altLang="it-IT" b="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it-IT" altLang="it-IT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altLang="it-IT" b="0" i="1" dirty="0" smtClean="0">
                                <a:latin typeface="Cambria Math"/>
                              </a:rPr>
                              <m:t>∗</m:t>
                            </m:r>
                          </m:sub>
                        </m:sSub>
                      </m:e>
                      <m:sub/>
                      <m:sup>
                        <m:r>
                          <a:rPr lang="it-IT" altLang="it-IT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it-IT" altLang="it-IT" b="0" i="1" dirty="0" smtClean="0">
                        <a:latin typeface="Cambria Math"/>
                      </a:rPr>
                      <m:t>−2=0</m:t>
                    </m:r>
                  </m:oMath>
                </a14:m>
                <a:endParaRPr lang="en-GB" altLang="it-IT" dirty="0"/>
              </a:p>
            </p:txBody>
          </p:sp>
        </mc:Choice>
        <mc:Fallback xmlns="">
          <p:sp>
            <p:nvSpPr>
              <p:cNvPr id="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12" y="1268760"/>
                <a:ext cx="7541840" cy="2102179"/>
              </a:xfrm>
              <a:prstGeom prst="rect">
                <a:avLst/>
              </a:prstGeom>
              <a:blipFill rotWithShape="1">
                <a:blip r:embed="rId3"/>
                <a:stretch>
                  <a:fillRect l="-728" t="-1739" b="-17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323528" y="3717032"/>
                <a:ext cx="7344816" cy="30354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/>
                </a:pP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it-IT" b="1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.5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.25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2"/>
                </a:pP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=[1,1.5]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𝟐𝟓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1.</m:t>
                        </m:r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−0.4375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3"/>
                  <a:tabLst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.25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 smtClean="0">
                    <a:solidFill>
                      <a:schemeClr val="tx2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i="1">
                            <a:solidFill>
                              <a:schemeClr val="tx2"/>
                            </a:solidFill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𝟑𝟕𝟓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1.375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−2=−0.109375</m:t>
                    </m:r>
                  </m:oMath>
                </a14:m>
                <a:endParaRPr lang="it-IT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17032"/>
                <a:ext cx="7344816" cy="3035446"/>
              </a:xfrm>
              <a:prstGeom prst="rect">
                <a:avLst/>
              </a:prstGeom>
              <a:blipFill rotWithShape="1">
                <a:blip r:embed="rId4"/>
                <a:stretch>
                  <a:fillRect l="-581" t="-8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6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/>
          <p:cNvSpPr/>
          <p:nvPr/>
        </p:nvSpPr>
        <p:spPr>
          <a:xfrm>
            <a:off x="2601005" y="4205290"/>
            <a:ext cx="1394931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70497" y="3129434"/>
            <a:ext cx="1164049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2670498" y="2060848"/>
            <a:ext cx="1037406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/>
          <p:cNvSpPr/>
          <p:nvPr/>
        </p:nvSpPr>
        <p:spPr>
          <a:xfrm>
            <a:off x="2670498" y="946438"/>
            <a:ext cx="881960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/>
              <p:cNvSpPr/>
              <p:nvPr/>
            </p:nvSpPr>
            <p:spPr>
              <a:xfrm>
                <a:off x="395536" y="260648"/>
                <a:ext cx="7344816" cy="2844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4"/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=[1.375,1.5]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𝟒𝟑𝟕𝟓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1.</m:t>
                        </m:r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437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06640625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5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.375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,1.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4375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𝟎𝟔𝟐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0224609375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6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=[1.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4062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5,1.4375]</m:t>
                      </m:r>
                    </m:oMath>
                  </m:oMathPara>
                </a14:m>
                <a:endParaRPr lang="it-IT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Rettango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0648"/>
                <a:ext cx="7344816" cy="2844368"/>
              </a:xfrm>
              <a:prstGeom prst="rect">
                <a:avLst/>
              </a:prstGeom>
              <a:blipFill rotWithShape="1">
                <a:blip r:embed="rId2"/>
                <a:stretch>
                  <a:fillRect l="-664" t="-1288" b="-15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401246" y="3068960"/>
                <a:ext cx="7344816" cy="2567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𝟒𝟐𝟏𝟖𝟕𝟓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021728515625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7"/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1.40625,1.421875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𝟒𝟏𝟒𝟎𝟔𝟐𝟓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00042724609375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8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=[1.4140625,1.421875]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:endParaRPr lang="it-IT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46" y="3068960"/>
                <a:ext cx="7344816" cy="2567369"/>
              </a:xfrm>
              <a:prstGeom prst="rect">
                <a:avLst/>
              </a:prstGeom>
              <a:blipFill rotWithShape="1">
                <a:blip r:embed="rId3"/>
                <a:stretch>
                  <a:fillRect l="-6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34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/>
          <p:cNvSpPr/>
          <p:nvPr/>
        </p:nvSpPr>
        <p:spPr>
          <a:xfrm>
            <a:off x="2601005" y="4205290"/>
            <a:ext cx="1394931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/>
          <p:cNvSpPr/>
          <p:nvPr/>
        </p:nvSpPr>
        <p:spPr>
          <a:xfrm>
            <a:off x="2670497" y="3129434"/>
            <a:ext cx="1164049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/>
          <p:cNvSpPr/>
          <p:nvPr/>
        </p:nvSpPr>
        <p:spPr>
          <a:xfrm>
            <a:off x="2670498" y="2060848"/>
            <a:ext cx="1037406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/>
          <p:cNvSpPr/>
          <p:nvPr/>
        </p:nvSpPr>
        <p:spPr>
          <a:xfrm>
            <a:off x="2670498" y="946438"/>
            <a:ext cx="881960" cy="36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3"/>
              <p:cNvSpPr/>
              <p:nvPr/>
            </p:nvSpPr>
            <p:spPr>
              <a:xfrm>
                <a:off x="395536" y="260648"/>
                <a:ext cx="7344816" cy="2844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4"/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=[1.375,1.5]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𝟒𝟑𝟕𝟓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1.</m:t>
                        </m:r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437</m:t>
                        </m:r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−2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06640625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5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.375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,1.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4375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𝟎𝟔𝟐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0224609375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6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=[1.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4062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5,1.4375]</m:t>
                      </m:r>
                    </m:oMath>
                  </m:oMathPara>
                </a14:m>
                <a:endParaRPr lang="it-IT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Rettango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0648"/>
                <a:ext cx="7344816" cy="2844368"/>
              </a:xfrm>
              <a:prstGeom prst="rect">
                <a:avLst/>
              </a:prstGeom>
              <a:blipFill rotWithShape="1">
                <a:blip r:embed="rId2"/>
                <a:stretch>
                  <a:fillRect l="-664" t="-1288" b="-15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401246" y="3068960"/>
                <a:ext cx="7344816" cy="292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it-IT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𝟒𝟐𝟏𝟖𝟕𝟓</m:t>
                    </m:r>
                  </m:oMath>
                </a14:m>
                <a:r>
                  <a:rPr lang="it-IT" dirty="0" smtClean="0">
                    <a:solidFill>
                      <a:prstClr val="black"/>
                    </a:solidFill>
                  </a:rPr>
                  <a:t>	</a:t>
                </a:r>
                <a:r>
                  <a:rPr lang="it-IT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021728515625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lvl="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7"/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=[</m:t>
                      </m:r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1.40625,1.421875</m:t>
                      </m:r>
                      <m:r>
                        <a:rPr lang="it-IT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tabLst>
                    <a:tab pos="354013" algn="l"/>
                    <a:tab pos="3406775" algn="l"/>
                  </a:tabLst>
                </a:pPr>
                <a:r>
                  <a:rPr lang="it-IT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it-IT" b="1" i="1" smtClean="0">
                        <a:solidFill>
                          <a:schemeClr val="accent1"/>
                        </a:solidFill>
                        <a:latin typeface="Cambria Math"/>
                      </a:rPr>
                      <m:t>.</m:t>
                    </m:r>
                    <m:r>
                      <a:rPr lang="it-IT" b="1" i="1">
                        <a:solidFill>
                          <a:schemeClr val="accent1"/>
                        </a:solidFill>
                        <a:latin typeface="Cambria Math"/>
                      </a:rPr>
                      <m:t>𝟒𝟏𝟒𝟎𝟔𝟐𝟓</m:t>
                    </m:r>
                  </m:oMath>
                </a14:m>
                <a:r>
                  <a:rPr lang="it-IT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e>
                    </m:d>
                    <m:r>
                      <a:rPr lang="it-IT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</m:t>
                    </m:r>
                    <m:r>
                      <a:rPr lang="it-IT" b="0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it-IT" i="1">
                        <a:solidFill>
                          <a:prstClr val="black"/>
                        </a:solidFill>
                        <a:latin typeface="Cambria Math"/>
                      </a:rPr>
                      <m:t>00042724609375</m:t>
                    </m:r>
                  </m:oMath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marL="342900" indent="-34290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  <a:buFont typeface="+mj-lt"/>
                  <a:buAutoNum type="arabicPeriod" startAt="8"/>
                  <a:tabLst>
                    <a:tab pos="3406775" algn="l"/>
                  </a:tabLst>
                </a:pPr>
                <a:r>
                  <a:rPr lang="it-IT" dirty="0" smtClean="0">
                    <a:solidFill>
                      <a:prstClr val="black"/>
                    </a:solidFill>
                  </a:rPr>
                  <a:t>voglio </a:t>
                </a:r>
                <a:r>
                  <a:rPr lang="it-IT" dirty="0">
                    <a:solidFill>
                      <a:prstClr val="black"/>
                    </a:solidFill>
                  </a:rPr>
                  <a:t>poter sfruttare il teorema degli zeri, considero </a:t>
                </a: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solidFill>
                            <a:prstClr val="black"/>
                          </a:solidFill>
                          <a:latin typeface="Cambria Math"/>
                        </a:rPr>
                        <m:t>=[1.4140625,1.421875]</m:t>
                      </m:r>
                    </m:oMath>
                  </m:oMathPara>
                </a14:m>
                <a:endParaRPr lang="it-IT" dirty="0" smtClean="0">
                  <a:solidFill>
                    <a:prstClr val="black"/>
                  </a:solidFill>
                </a:endParaRPr>
              </a:p>
              <a:p>
                <a:pPr lvl="0" algn="just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:endParaRPr lang="it-IT" dirty="0" smtClean="0">
                  <a:solidFill>
                    <a:prstClr val="black"/>
                  </a:solidFill>
                </a:endParaRPr>
              </a:p>
              <a:p>
                <a:pPr lvl="0" algn="ctr">
                  <a:spcBef>
                    <a:spcPts val="600"/>
                  </a:spcBef>
                  <a:buClr>
                    <a:schemeClr val="accent4"/>
                  </a:buClr>
                  <a:buSzPct val="100000"/>
                </a:pPr>
                <a:r>
                  <a:rPr lang="it-IT" dirty="0" smtClean="0">
                    <a:solidFill>
                      <a:schemeClr val="accent1"/>
                    </a:solidFill>
                  </a:rPr>
                  <a:t>quando mi fermo</a:t>
                </a:r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46" y="3068960"/>
                <a:ext cx="7344816" cy="2921313"/>
              </a:xfrm>
              <a:prstGeom prst="rect">
                <a:avLst/>
              </a:prstGeom>
              <a:blipFill rotWithShape="1">
                <a:blip r:embed="rId3"/>
                <a:stretch>
                  <a:fillRect l="-664" b="-20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/>
          <p:cNvSpPr/>
          <p:nvPr/>
        </p:nvSpPr>
        <p:spPr>
          <a:xfrm>
            <a:off x="3834547" y="5842337"/>
            <a:ext cx="4667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</a:rPr>
              <a:t>?</a:t>
            </a:r>
            <a:endParaRPr lang="it-IT" sz="6000" dirty="0">
              <a:ln w="500">
                <a:solidFill>
                  <a:schemeClr val="tx2">
                    <a:shade val="20000"/>
                    <a:satMod val="120000"/>
                  </a:schemeClr>
                </a:solidFill>
              </a:ln>
              <a:gradFill>
                <a:gsLst>
                  <a:gs pos="0">
                    <a:schemeClr val="accent4">
                      <a:tint val="13000"/>
                    </a:schemeClr>
                  </a:gs>
                  <a:gs pos="10000">
                    <a:schemeClr val="accent4">
                      <a:tint val="20000"/>
                    </a:schemeClr>
                  </a:gs>
                  <a:gs pos="49000">
                    <a:schemeClr val="accent4">
                      <a:tint val="70000"/>
                    </a:schemeClr>
                  </a:gs>
                  <a:gs pos="50000">
                    <a:schemeClr val="accent4">
                      <a:tint val="97000"/>
                    </a:schemeClr>
                  </a:gs>
                  <a:gs pos="100000">
                    <a:schemeClr val="accent4">
                      <a:tint val="2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1064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699792" y="188640"/>
            <a:ext cx="2674640" cy="410304"/>
          </a:xfrm>
        </p:spPr>
        <p:txBody>
          <a:bodyPr>
            <a:normAutofit/>
          </a:bodyPr>
          <a:lstStyle/>
          <a:p>
            <a:r>
              <a:rPr lang="it-IT" sz="2400" dirty="0"/>
              <a:t>Metodi iterativi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908720"/>
                <a:ext cx="7239000" cy="2611672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it-IT" sz="1800" dirty="0" smtClean="0"/>
                  <a:t>L’idea </a:t>
                </a:r>
                <a:r>
                  <a:rPr lang="it-IT" sz="1800" dirty="0"/>
                  <a:t>alla base dei metodi numerici per la determinazione di zeri di </a:t>
                </a:r>
                <a:r>
                  <a:rPr lang="it-IT" sz="1800" dirty="0" smtClean="0"/>
                  <a:t>funzioni è </a:t>
                </a:r>
                <a:r>
                  <a:rPr lang="it-IT" sz="1800" dirty="0"/>
                  <a:t>il concetto di iterazione. In pratica si produce una sequenza di </a:t>
                </a:r>
                <a:r>
                  <a:rPr lang="it-IT" sz="1800" dirty="0" smtClean="0"/>
                  <a:t>valori numerici</a:t>
                </a:r>
              </a:p>
              <a:p>
                <a:pPr marL="0" indent="0" algn="ctr">
                  <a:buNone/>
                </a:pPr>
                <a:r>
                  <a:rPr lang="it-IT" sz="1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r>
                      <a:rPr lang="it-IT" sz="1800" b="0" i="0" smtClean="0">
                        <a:solidFill>
                          <a:schemeClr val="accent5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it-IT" sz="1800" b="0" i="1" smtClean="0">
                        <a:solidFill>
                          <a:schemeClr val="accent5"/>
                        </a:solidFill>
                        <a:latin typeface="Cambria Math"/>
                      </a:rPr>
                      <m:t>,   …</m:t>
                    </m:r>
                  </m:oMath>
                </a14:m>
                <a:r>
                  <a:rPr lang="it-IT" sz="1800" dirty="0" smtClean="0">
                    <a:solidFill>
                      <a:schemeClr val="accent5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:endParaRPr lang="it-IT" sz="1800" dirty="0"/>
              </a:p>
              <a:p>
                <a:pPr marL="0" indent="0" algn="just">
                  <a:buNone/>
                </a:pPr>
                <a:r>
                  <a:rPr lang="it-IT" sz="1800" dirty="0" smtClean="0"/>
                  <a:t>che </a:t>
                </a:r>
                <a:r>
                  <a:rPr lang="it-IT" sz="1800" dirty="0"/>
                  <a:t>sotto opportune ipotesi risulta convergere alla </a:t>
                </a:r>
                <a:r>
                  <a:rPr lang="it-IT" sz="1800" dirty="0" smtClean="0"/>
                  <a:t>radice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  <m:t>∗</m:t>
                        </m:r>
                      </m:sub>
                    </m:sSub>
                  </m:oMath>
                </a14:m>
                <a:r>
                  <a:rPr lang="it-IT" sz="1800" dirty="0" smtClean="0"/>
                  <a:t> cercata</a:t>
                </a:r>
                <a:r>
                  <a:rPr lang="it-IT" sz="1800" dirty="0"/>
                  <a:t>. </a:t>
                </a:r>
                <a:endParaRPr lang="it-IT" sz="1800" dirty="0" smtClean="0"/>
              </a:p>
              <a:p>
                <a:pPr marL="0" indent="0" algn="just">
                  <a:buNone/>
                </a:pPr>
                <a:endParaRPr lang="it-IT" sz="1800" dirty="0"/>
              </a:p>
              <a:p>
                <a:pPr marL="0" indent="0" algn="just">
                  <a:buNone/>
                </a:pPr>
                <a:r>
                  <a:rPr lang="it-IT" sz="1800" dirty="0" smtClean="0"/>
                  <a:t>Tipicamente </a:t>
                </a:r>
                <a:r>
                  <a:rPr lang="it-IT" sz="1800" dirty="0"/>
                  <a:t>i principali problemi che si devono affrontare </a:t>
                </a:r>
                <a:r>
                  <a:rPr lang="it-IT" sz="1800" dirty="0" smtClean="0"/>
                  <a:t>sono</a:t>
                </a:r>
              </a:p>
              <a:p>
                <a:pPr marL="0" indent="0" algn="just">
                  <a:buNone/>
                </a:pPr>
                <a:endParaRPr lang="it-IT" sz="1800" dirty="0"/>
              </a:p>
              <a:p>
                <a:pPr algn="just"/>
                <a:r>
                  <a:rPr lang="it-IT" sz="1800" dirty="0" smtClean="0"/>
                  <a:t>Come </a:t>
                </a:r>
                <a:r>
                  <a:rPr lang="it-IT" sz="1800" dirty="0"/>
                  <a:t>iniziare l’iterazione.</a:t>
                </a:r>
              </a:p>
              <a:p>
                <a:pPr algn="just"/>
                <a:r>
                  <a:rPr lang="it-IT" sz="1800" dirty="0" smtClean="0"/>
                  <a:t>Se </a:t>
                </a:r>
                <a:r>
                  <a:rPr lang="it-IT" sz="1800" dirty="0"/>
                  <a:t>e con quale </a:t>
                </a:r>
                <a:r>
                  <a:rPr lang="it-IT" sz="1800" dirty="0" smtClean="0"/>
                  <a:t>velocità </a:t>
                </a:r>
                <a:r>
                  <a:rPr lang="it-IT" sz="1800" dirty="0"/>
                  <a:t>l’iterazione converge.</a:t>
                </a:r>
              </a:p>
              <a:p>
                <a:pPr algn="just"/>
                <a:r>
                  <a:rPr lang="it-IT" sz="1800" dirty="0" smtClean="0"/>
                  <a:t>Quando </a:t>
                </a:r>
                <a:r>
                  <a:rPr lang="it-IT" sz="1800" dirty="0"/>
                  <a:t>terminare l’iterazione.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908720"/>
                <a:ext cx="7239000" cy="2611672"/>
              </a:xfrm>
              <a:blipFill rotWithShape="1">
                <a:blip r:embed="rId2"/>
                <a:stretch>
                  <a:fillRect l="-758" t="-1402" r="-674" b="-700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4355976" y="2045891"/>
                <a:ext cx="8383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𝑖</m:t>
                      </m:r>
                      <m:r>
                        <a:rPr lang="it-IT" sz="1400" b="0" i="1" smtClean="0">
                          <a:solidFill>
                            <a:schemeClr val="accent5"/>
                          </a:solidFill>
                          <a:latin typeface="Cambria Math"/>
                          <a:ea typeface="Cambria Math"/>
                        </a:rPr>
                        <m:t>→+∞</m:t>
                      </m:r>
                    </m:oMath>
                  </m:oMathPara>
                </a14:m>
                <a:endParaRPr lang="it-IT" sz="1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2045891"/>
                <a:ext cx="838370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72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/>
          <p:cNvGrpSpPr/>
          <p:nvPr/>
        </p:nvGrpSpPr>
        <p:grpSpPr>
          <a:xfrm>
            <a:off x="611560" y="260648"/>
            <a:ext cx="6858000" cy="1789896"/>
            <a:chOff x="611560" y="260648"/>
            <a:chExt cx="6858000" cy="1789896"/>
          </a:xfrm>
        </p:grpSpPr>
        <p:pic>
          <p:nvPicPr>
            <p:cNvPr id="6" name="Immagine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9" r="55237"/>
            <a:stretch/>
          </p:blipFill>
          <p:spPr>
            <a:xfrm rot="5400000">
              <a:off x="3145612" y="-2273404"/>
              <a:ext cx="1789896" cy="6858000"/>
            </a:xfrm>
            <a:prstGeom prst="rect">
              <a:avLst/>
            </a:prstGeom>
          </p:spPr>
        </p:pic>
        <p:sp>
          <p:nvSpPr>
            <p:cNvPr id="11" name="Rettangolo 10"/>
            <p:cNvSpPr/>
            <p:nvPr/>
          </p:nvSpPr>
          <p:spPr>
            <a:xfrm>
              <a:off x="3203848" y="658406"/>
              <a:ext cx="37382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4000" dirty="0" smtClean="0">
                  <a:solidFill>
                    <a:schemeClr val="accent5"/>
                  </a:solidFill>
                </a:rPr>
                <a:t>*</a:t>
              </a:r>
              <a:endParaRPr lang="it-IT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937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/>
              <p:cNvSpPr/>
              <p:nvPr/>
            </p:nvSpPr>
            <p:spPr>
              <a:xfrm>
                <a:off x="501482" y="2132856"/>
                <a:ext cx="7078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dirty="0" smtClean="0">
                    <a:solidFill>
                      <a:schemeClr val="accent5"/>
                    </a:solidFill>
                  </a:rPr>
                  <a:t>La condizione di arresto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accent5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schemeClr val="accent5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it-IT" dirty="0" smtClean="0">
                    <a:solidFill>
                      <a:schemeClr val="accent5"/>
                    </a:solidFill>
                  </a:rPr>
                  <a:t> può non risultare mai verificata</a:t>
                </a:r>
                <a:endParaRPr lang="it-IT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" name="Rettango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2" y="2132856"/>
                <a:ext cx="707815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689" t="-10000" r="-86" b="-2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o 13"/>
          <p:cNvGrpSpPr/>
          <p:nvPr/>
        </p:nvGrpSpPr>
        <p:grpSpPr>
          <a:xfrm>
            <a:off x="611560" y="260648"/>
            <a:ext cx="6858000" cy="1789896"/>
            <a:chOff x="611560" y="260648"/>
            <a:chExt cx="6858000" cy="1789896"/>
          </a:xfrm>
        </p:grpSpPr>
        <p:pic>
          <p:nvPicPr>
            <p:cNvPr id="6" name="Immagine 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9" r="55237"/>
            <a:stretch/>
          </p:blipFill>
          <p:spPr>
            <a:xfrm rot="5400000">
              <a:off x="3145612" y="-2273404"/>
              <a:ext cx="1789896" cy="6858000"/>
            </a:xfrm>
            <a:prstGeom prst="rect">
              <a:avLst/>
            </a:prstGeom>
          </p:spPr>
        </p:pic>
        <p:sp>
          <p:nvSpPr>
            <p:cNvPr id="11" name="Rettangolo 10"/>
            <p:cNvSpPr/>
            <p:nvPr/>
          </p:nvSpPr>
          <p:spPr>
            <a:xfrm>
              <a:off x="3203848" y="657302"/>
              <a:ext cx="373820" cy="7786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4000" dirty="0" smtClean="0">
                  <a:solidFill>
                    <a:schemeClr val="accent5"/>
                  </a:solidFill>
                </a:rPr>
                <a:t>*</a:t>
              </a:r>
              <a:endParaRPr lang="it-IT" sz="4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tangolo 11"/>
              <p:cNvSpPr/>
              <p:nvPr/>
            </p:nvSpPr>
            <p:spPr>
              <a:xfrm>
                <a:off x="467544" y="2636912"/>
                <a:ext cx="7200800" cy="2001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dirty="0" smtClean="0"/>
                  <a:t>Un possibile criterio di arresto si ottiene arrestando l’iterazione quando l’ampiezza </a:t>
                </a:r>
                <a:r>
                  <a:rPr lang="it-IT" dirty="0"/>
                  <a:t>dell’intervallo scende al di sotto di una certa </a:t>
                </a:r>
                <a:r>
                  <a:rPr lang="it-IT" dirty="0" smtClean="0"/>
                  <a:t>soglia:</a:t>
                </a:r>
                <a:endParaRPr lang="it-IT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/>
                        </a:rPr>
                        <m:t>|</m:t>
                      </m:r>
                      <m:sSub>
                        <m:sSubPr>
                          <m:ctrlPr>
                            <a:rPr lang="it-I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it-IT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/>
                            </a:rPr>
                            <m:t>∗</m:t>
                          </m:r>
                        </m:sub>
                      </m:sSub>
                      <m:r>
                        <a:rPr lang="it-IT" i="1">
                          <a:latin typeface="Cambria Math"/>
                        </a:rPr>
                        <m:t>|&lt;</m:t>
                      </m:r>
                      <m:f>
                        <m:fPr>
                          <m:ctrlPr>
                            <a:rPr lang="it-IT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/>
                            </a:rPr>
                            <m:t>𝑏</m:t>
                          </m:r>
                          <m:r>
                            <a:rPr lang="it-IT" i="1">
                              <a:latin typeface="Cambria Math"/>
                            </a:rPr>
                            <m:t>−</m:t>
                          </m:r>
                          <m:r>
                            <a:rPr lang="it-IT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it-IT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it-IT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it-IT" i="1">
                          <a:latin typeface="Cambria Math"/>
                        </a:rPr>
                        <m:t>&lt;</m:t>
                      </m:r>
                      <m:r>
                        <a:rPr lang="it-IT" i="1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it-IT" dirty="0"/>
              </a:p>
              <a:p>
                <a:pPr algn="ctr"/>
                <a:endParaRPr lang="it-IT" dirty="0" smtClean="0"/>
              </a:p>
              <a:p>
                <a:pPr algn="just"/>
                <a:r>
                  <a:rPr lang="it-IT" dirty="0" smtClean="0"/>
                  <a:t>con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it-IT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it-IT" dirty="0" smtClean="0"/>
                  <a:t> </a:t>
                </a:r>
                <a:r>
                  <a:rPr lang="it-IT" dirty="0"/>
                  <a:t>tolleranza prefissata. </a:t>
                </a:r>
                <a:endParaRPr lang="it-IT" dirty="0" smtClean="0"/>
              </a:p>
            </p:txBody>
          </p:sp>
        </mc:Choice>
        <mc:Fallback>
          <p:sp>
            <p:nvSpPr>
              <p:cNvPr id="12" name="Rettango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636912"/>
                <a:ext cx="7200800" cy="2001445"/>
              </a:xfrm>
              <a:prstGeom prst="rect">
                <a:avLst/>
              </a:prstGeom>
              <a:blipFill rotWithShape="1">
                <a:blip r:embed="rId4"/>
                <a:stretch>
                  <a:fillRect l="-762" t="-1829" r="-677" b="-39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05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/>
              <p:cNvSpPr/>
              <p:nvPr/>
            </p:nvSpPr>
            <p:spPr>
              <a:xfrm>
                <a:off x="501482" y="2132856"/>
                <a:ext cx="7078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dirty="0" smtClean="0">
                    <a:solidFill>
                      <a:schemeClr val="accent5"/>
                    </a:solidFill>
                  </a:rPr>
                  <a:t>La condizione di arresto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accent5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it-IT" b="0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solidFill>
                          <a:schemeClr val="accent5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it-IT" dirty="0" smtClean="0">
                    <a:solidFill>
                      <a:schemeClr val="accent5"/>
                    </a:solidFill>
                  </a:rPr>
                  <a:t> può non risultare mai verificata</a:t>
                </a:r>
                <a:endParaRPr lang="it-IT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" name="Rettango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2" y="2132856"/>
                <a:ext cx="707815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689" t="-10000" r="-86" b="-2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o 13"/>
          <p:cNvGrpSpPr/>
          <p:nvPr/>
        </p:nvGrpSpPr>
        <p:grpSpPr>
          <a:xfrm>
            <a:off x="611560" y="260648"/>
            <a:ext cx="6858000" cy="1789896"/>
            <a:chOff x="611560" y="260648"/>
            <a:chExt cx="6858000" cy="1789896"/>
          </a:xfrm>
        </p:grpSpPr>
        <p:pic>
          <p:nvPicPr>
            <p:cNvPr id="6" name="Immagine 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49" r="55237"/>
            <a:stretch/>
          </p:blipFill>
          <p:spPr>
            <a:xfrm rot="5400000">
              <a:off x="3145612" y="-2273404"/>
              <a:ext cx="1789896" cy="6858000"/>
            </a:xfrm>
            <a:prstGeom prst="rect">
              <a:avLst/>
            </a:prstGeom>
          </p:spPr>
        </p:pic>
        <p:sp>
          <p:nvSpPr>
            <p:cNvPr id="11" name="Rettangolo 10"/>
            <p:cNvSpPr/>
            <p:nvPr/>
          </p:nvSpPr>
          <p:spPr>
            <a:xfrm>
              <a:off x="3203848" y="657302"/>
              <a:ext cx="373820" cy="7786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4000" dirty="0" smtClean="0">
                  <a:solidFill>
                    <a:schemeClr val="accent5"/>
                  </a:solidFill>
                </a:rPr>
                <a:t>*</a:t>
              </a:r>
              <a:endParaRPr lang="it-IT" sz="4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ttangolo 11"/>
              <p:cNvSpPr/>
              <p:nvPr/>
            </p:nvSpPr>
            <p:spPr>
              <a:xfrm>
                <a:off x="467544" y="2636912"/>
                <a:ext cx="7200800" cy="310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dirty="0" smtClean="0"/>
                  <a:t>Un possibile criterio di arresto si ottiene arrestando l’iterazione quando l’ampiezza </a:t>
                </a:r>
                <a:r>
                  <a:rPr lang="it-IT" dirty="0"/>
                  <a:t>dell’intervallo scende al di sotto di una certa </a:t>
                </a:r>
                <a:r>
                  <a:rPr lang="it-IT" dirty="0" smtClean="0"/>
                  <a:t>soglia:</a:t>
                </a:r>
                <a:endParaRPr lang="it-IT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|</m:t>
                      </m:r>
                      <m:sSub>
                        <m:sSubPr>
                          <m:ctrlPr>
                            <a:rPr lang="it-IT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it-IT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b>
                      </m:sSub>
                      <m:r>
                        <a:rPr lang="it-IT" b="0" i="1" smtClean="0">
                          <a:latin typeface="Cambria Math"/>
                        </a:rPr>
                        <m:t>|&lt;</m:t>
                      </m:r>
                      <m:f>
                        <m:fPr>
                          <m:ctrlPr>
                            <a:rPr lang="it-IT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it-IT" b="0" i="1" smtClean="0">
                              <a:latin typeface="Cambria Math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it-IT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it-IT" b="0" i="1" smtClean="0">
                          <a:latin typeface="Cambria Math"/>
                        </a:rPr>
                        <m:t>&lt;</m:t>
                      </m:r>
                      <m:r>
                        <a:rPr lang="it-IT" b="0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it-IT" dirty="0" smtClean="0"/>
              </a:p>
              <a:p>
                <a:pPr algn="ctr"/>
                <a:endParaRPr lang="it-IT" dirty="0" smtClean="0"/>
              </a:p>
              <a:p>
                <a:pPr algn="just"/>
                <a:r>
                  <a:rPr lang="it-IT" dirty="0" smtClean="0"/>
                  <a:t>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  <a:ea typeface="Cambria Math"/>
                      </a:rPr>
                      <m:t>ε</m:t>
                    </m:r>
                    <m:r>
                      <a:rPr lang="it-IT" b="0" i="1" smtClean="0">
                        <a:latin typeface="Cambria Math"/>
                      </a:rPr>
                      <m:t>&gt;0</m:t>
                    </m:r>
                  </m:oMath>
                </a14:m>
                <a:r>
                  <a:rPr lang="it-IT" dirty="0" smtClean="0"/>
                  <a:t> </a:t>
                </a:r>
                <a:r>
                  <a:rPr lang="it-IT" dirty="0"/>
                  <a:t>tolleranza prefissata. </a:t>
                </a:r>
                <a:endParaRPr lang="it-IT" dirty="0" smtClean="0"/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 smtClean="0"/>
                  <a:t>Dalla </a:t>
                </a:r>
                <a:r>
                  <a:rPr lang="it-IT" dirty="0"/>
                  <a:t>precedente disuguaglianza </a:t>
                </a:r>
                <a:r>
                  <a:rPr lang="it-IT" dirty="0" smtClean="0"/>
                  <a:t>otteniamo che </a:t>
                </a:r>
                <a:r>
                  <a:rPr lang="it-IT" dirty="0"/>
                  <a:t>il numero di iterazioni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/>
                      </a:rPr>
                      <m:t>𝑘</m:t>
                    </m:r>
                    <m:r>
                      <a:rPr lang="it-IT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it-IT" dirty="0" smtClean="0"/>
                  <a:t>necessarie </a:t>
                </a:r>
                <a:r>
                  <a:rPr lang="it-IT" dirty="0"/>
                  <a:t>al fine di ottenere un errore </a:t>
                </a:r>
                <a:r>
                  <a:rPr lang="it-IT" dirty="0" smtClean="0"/>
                  <a:t>assoluto sulla soluzione inferiore ad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it-IT" dirty="0" smtClean="0"/>
                  <a:t> soddisfa la relazione</a:t>
                </a:r>
                <a:endParaRPr lang="it-IT" dirty="0"/>
              </a:p>
            </p:txBody>
          </p:sp>
        </mc:Choice>
        <mc:Fallback>
          <p:sp>
            <p:nvSpPr>
              <p:cNvPr id="12" name="Rettango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636912"/>
                <a:ext cx="7200800" cy="3109441"/>
              </a:xfrm>
              <a:prstGeom prst="rect">
                <a:avLst/>
              </a:prstGeom>
              <a:blipFill rotWithShape="1">
                <a:blip r:embed="rId4"/>
                <a:stretch>
                  <a:fillRect l="-762" t="-1176" r="-677" b="-21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/>
              <p:cNvSpPr txBox="1"/>
              <p:nvPr/>
            </p:nvSpPr>
            <p:spPr>
              <a:xfrm>
                <a:off x="2195736" y="5768148"/>
                <a:ext cx="3835794" cy="68518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/>
                        </a:rPr>
                        <m:t>𝑘</m:t>
                      </m:r>
                      <m:r>
                        <a:rPr lang="it-IT" b="0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it-IT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den>
                          </m:f>
                        </m:e>
                      </m:func>
                      <m:r>
                        <a:rPr lang="it-IT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it-IT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it-IT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it-IT" b="0" i="1" smtClean="0">
                                      <a:latin typeface="Cambria Math"/>
                                      <a:ea typeface="Cambria Math"/>
                                    </a:rPr>
                                    <m:t>𝜀</m:t>
                                  </m:r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it-IT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it-IT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5768148"/>
                <a:ext cx="3835794" cy="68518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85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to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Mito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to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3544</TotalTime>
  <Words>1330</Words>
  <Application>Microsoft Office PowerPoint</Application>
  <PresentationFormat>Presentazione su schermo (4:3)</PresentationFormat>
  <Paragraphs>281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5" baseType="lpstr">
      <vt:lpstr>Mito</vt:lpstr>
      <vt:lpstr>Calcolo numerico       corso di laurea triennale  in informatica</vt:lpstr>
      <vt:lpstr>ORARIO</vt:lpstr>
      <vt:lpstr>PROGRAMMA del CORSO</vt:lpstr>
      <vt:lpstr>Dal problema reale alla sua risoluzione numerica: il percorso della Matematica  Applicata</vt:lpstr>
      <vt:lpstr>Dal problema reale alla sua risoluzione numerica: il percorso della Matematica  Applicata</vt:lpstr>
      <vt:lpstr>calcolo numerico  e  analisi numerica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 Settori di applicazione</vt:lpstr>
      <vt:lpstr>Radici di equazioni</vt:lpstr>
      <vt:lpstr> Teorema di Esistenza degli Zeri</vt:lpstr>
      <vt:lpstr>Come fa la calcolatrice a calcolare √2 ?</vt:lpstr>
      <vt:lpstr> Metodo di Bisezione</vt:lpstr>
      <vt:lpstr> Metodo di Bisezione</vt:lpstr>
      <vt:lpstr> Metodo di Bisezione</vt:lpstr>
      <vt:lpstr> Metodo di Bisezione</vt:lpstr>
      <vt:lpstr>Presentazione standard di PowerPoint</vt:lpstr>
      <vt:lpstr>Presentazione standard di PowerPoint</vt:lpstr>
      <vt:lpstr>Metodi iterativi</vt:lpstr>
      <vt:lpstr>Presentazione standard di PowerPoint</vt:lpstr>
      <vt:lpstr>Presentazione standard di PowerPoint</vt:lpstr>
      <vt:lpstr>Presentazione standard di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Cos’è il Calcolo Numerico?</dc:title>
  <dc:creator>.</dc:creator>
  <cp:lastModifiedBy>Chiara</cp:lastModifiedBy>
  <cp:revision>160</cp:revision>
  <cp:lastPrinted>2016-05-31T16:25:25Z</cp:lastPrinted>
  <dcterms:created xsi:type="dcterms:W3CDTF">2016-05-24T15:30:40Z</dcterms:created>
  <dcterms:modified xsi:type="dcterms:W3CDTF">2021-02-22T14:37:43Z</dcterms:modified>
</cp:coreProperties>
</file>